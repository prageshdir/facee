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74" r:id="rId6"/>
    <p:sldId id="275" r:id="rId7"/>
    <p:sldId id="260" r:id="rId8"/>
    <p:sldId id="262" r:id="rId9"/>
    <p:sldId id="263" r:id="rId10"/>
    <p:sldId id="271" r:id="rId11"/>
    <p:sldId id="272" r:id="rId12"/>
    <p:sldId id="265" r:id="rId13"/>
    <p:sldId id="266" r:id="rId14"/>
    <p:sldId id="270" r:id="rId15"/>
    <p:sldId id="269" r:id="rId16"/>
    <p:sldId id="267" r:id="rId17"/>
    <p:sldId id="276" r:id="rId18"/>
    <p:sldId id="281" r:id="rId19"/>
    <p:sldId id="277" r:id="rId20"/>
    <p:sldId id="282" r:id="rId21"/>
    <p:sldId id="278" r:id="rId22"/>
    <p:sldId id="284" r:id="rId23"/>
    <p:sldId id="279" r:id="rId24"/>
    <p:sldId id="280" r:id="rId25"/>
    <p:sldId id="283" r:id="rId26"/>
    <p:sldId id="268" r:id="rId27"/>
    <p:sldId id="261" r:id="rId28"/>
    <p:sldId id="27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F6B76A-2DED-4B31-AE99-1687B9D54AD6}" v="2" dt="2026-02-21T01:44:42.172"/>
    <p1510:client id="{EB98D023-47B9-4116-9570-C56F3DEA7D1E}" v="2" dt="2026-02-21T01:30:32.2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2634" y="9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ECEA2-B597-4F77-B4E1-0FBA1CC58F44}" type="datetimeFigureOut">
              <a:rPr lang="en-US" smtClean="0"/>
              <a:pPr/>
              <a:t>20/05/2026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C0A33-4079-4DAC-AA57-36B483BEF7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C0A33-4079-4DAC-AA57-36B483BEF7D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2977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5AA9-9A60-4597-B932-0226E7A2EB4D}" type="datetime1">
              <a:rPr lang="en-US" smtClean="0"/>
              <a:pPr/>
              <a:t>20/05/2026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ABC6-A97D-4430-99DB-ECFD77F48285}" type="datetime1">
              <a:rPr lang="en-US" smtClean="0"/>
              <a:pPr/>
              <a:t>20/05/2026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EBD9-6587-492F-88F9-F7BB58A786E3}" type="datetime1">
              <a:rPr lang="en-US" smtClean="0"/>
              <a:pPr/>
              <a:t>20/05/2026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8C184-00AC-479D-AB55-F78865F2CCFE}" type="datetime1">
              <a:rPr lang="en-US" smtClean="0"/>
              <a:pPr/>
              <a:t>20/05/2026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ABED1-5D82-41F3-B0BC-5B15D1B66EDB}" type="datetime1">
              <a:rPr lang="en-US" smtClean="0"/>
              <a:pPr/>
              <a:t>20/05/2026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47D4-38B5-4645-AA29-5EE21A4BD2FB}" type="datetime1">
              <a:rPr lang="en-US" smtClean="0"/>
              <a:pPr/>
              <a:t>20/05/2026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91B8-7868-4841-BF1A-E9CA9CDD0146}" type="datetime1">
              <a:rPr lang="en-US" smtClean="0"/>
              <a:pPr/>
              <a:t>20/05/2026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8FA8-CF54-4128-A0B2-68A9351C5117}" type="datetime1">
              <a:rPr lang="en-US" smtClean="0"/>
              <a:pPr/>
              <a:t>20/05/2026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32F25-FDD7-49DE-B4B3-561FA2280C61}" type="datetime1">
              <a:rPr lang="en-US" smtClean="0"/>
              <a:pPr/>
              <a:t>20/05/2026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088E1-2371-4A1D-9DEE-1F374FD6E574}" type="datetime1">
              <a:rPr lang="en-US" smtClean="0"/>
              <a:pPr/>
              <a:t>20/05/2026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75AB-0777-434F-BF2E-FDF0857DCDAC}" type="datetime1">
              <a:rPr lang="en-US" smtClean="0"/>
              <a:pPr/>
              <a:t>20/05/2026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FC72A-0382-4657-89FE-3EBBB6C83115}" type="datetime1">
              <a:rPr lang="en-US" smtClean="0"/>
              <a:pPr/>
              <a:t>20/05/2026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A61BE-1BA4-41D7-975A-BF538DEFE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28600"/>
            <a:ext cx="7772400" cy="1143001"/>
          </a:xfrm>
        </p:spPr>
        <p:txBody>
          <a:bodyPr>
            <a:normAutofit fontScale="90000"/>
          </a:bodyPr>
          <a:lstStyle/>
          <a:p>
            <a:r>
              <a:rPr lang="en-US" dirty="0" sz="1800" b="1"/>
              <a:t>Major Project Progress II Presentation on
Deep Learning Approaches For Face &amp; Gait Recognition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0636" y="2819400"/>
            <a:ext cx="7543800" cy="1219200"/>
          </a:xfrm>
        </p:spPr>
        <p:txBody>
          <a:bodyPr>
            <a:normAutofit/>
          </a:bodyPr>
          <a:lstStyle/>
          <a:p>
            <a:endParaRPr lang="en-US" sz="14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Afsana Chettri ( 202422018)</a:t>
            </a:r>
          </a:p>
          <a:p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219200" y="5105400"/>
            <a:ext cx="69342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Under the Guidance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Mr. Simanta Kalita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Assistance Professor, SMIT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371600" y="5791200"/>
            <a:ext cx="69342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543800" y="6356350"/>
            <a:ext cx="1143000" cy="365125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0" y="6492875"/>
            <a:ext cx="7696200" cy="365125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Dept. of Computer Application, SMIT, Majhitar, East Sikkim</a:t>
            </a:r>
          </a:p>
        </p:txBody>
      </p:sp>
      <p:pic>
        <p:nvPicPr>
          <p:cNvPr id="1026" name="Picture 2" descr="E:\Mega\MEGAsync\Personal\manipal new log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25" y="1542539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E:\Mega\MEGAsync\Personal\smit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3849371"/>
            <a:ext cx="4343400" cy="117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Content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492875"/>
            <a:ext cx="8001000" cy="365125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Dept. of Computer Application, SMIT, Majhitar, East Sikkim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295400"/>
            <a:ext cx="8229600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z="1800"/>
              <a:t>Introduction</a:t>
            </a:r>
          </a:p>
          <a:p>
            <a:r>
              <a:rPr lang="en-US" dirty="0" sz="1800"/>
              <a:t>Overview of the Problem</a:t>
            </a:r>
          </a:p>
          <a:p>
            <a:r>
              <a:rPr lang="en-US" dirty="0" sz="1800"/>
              <a:t>Aim and Objectives</a:t>
            </a:r>
          </a:p>
          <a:p>
            <a:r>
              <a:rPr lang="en-US" dirty="0" sz="1800"/>
              <a:t>Literature Survey</a:t>
            </a:r>
          </a:p>
          <a:p>
            <a:r>
              <a:rPr lang="en-US" dirty="0" sz="1800"/>
              <a:t>Problem Definition</a:t>
            </a:r>
          </a:p>
          <a:p>
            <a:r>
              <a:rPr lang="en-US" dirty="0" sz="1800"/>
              <a:t>Proposed Solution Strategy</a:t>
            </a:r>
          </a:p>
          <a:p>
            <a:r>
              <a:rPr lang="en-US" dirty="0" sz="1800"/>
              <a:t>Project Plan</a:t>
            </a:r>
          </a:p>
          <a:p>
            <a:r>
              <a:rPr lang="en-US" dirty="0" sz="1800"/>
              <a:t>H/W &amp; S/W Requirements,  Team Structure,  Gantt Chart</a:t>
            </a:r>
          </a:p>
          <a:p>
            <a:r>
              <a:rPr lang="en-US" dirty="0" sz="1800"/>
              <a:t>Design</a:t>
            </a:r>
          </a:p>
          <a:p>
            <a:r>
              <a:rPr lang="en-US" dirty="0" sz="1800"/>
              <a:t>Architecture Diagram</a:t>
            </a:r>
          </a:p>
          <a:p>
            <a:r>
              <a:rPr lang="en-US" dirty="0" sz="1800"/>
              <a:t>Data Processing Workflow</a:t>
            </a:r>
          </a:p>
          <a:p>
            <a:r>
              <a:rPr lang="en-US" dirty="0" sz="1800"/>
              <a:t>Progress till Date</a:t>
            </a:r>
          </a:p>
          <a:p>
            <a:r>
              <a:rPr lang="en-US" dirty="0" sz="1800"/>
              <a:t>Progress Summary</a:t>
            </a:r>
          </a:p>
          <a:p>
            <a:r>
              <a:rPr lang="en-US" dirty="0" sz="1800"/>
              <a:t>Result and Discussion</a:t>
            </a:r>
          </a:p>
          <a:p>
            <a:r>
              <a:rPr lang="en-US" dirty="0" sz="1800"/>
              <a:t>Conclusion</a:t>
            </a:r>
          </a:p>
          <a:p>
            <a:r>
              <a:rPr lang="en-US" dirty="0" sz="180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Project develops a deep learning-based real-time surveillance system combining face recognition and gait analysis.</a:t>
            </a:r>
          </a:p>
          <a:p>
            <a:r>
              <a:rPr lang="en-US" dirty="0"/>
              <a:t>Traditional systems rely only on face recognition, which fails in poor lighting, occlusion, or mask usage.</a:t>
            </a:r>
          </a:p>
          <a:p>
            <a:r>
              <a:rPr lang="en-US" dirty="0"/>
              <a:t>Gait recognition is added because walking patterns are unique to each person and difficult to conceal.</a:t>
            </a:r>
          </a:p>
          <a:p>
            <a:r>
              <a:rPr lang="en-US" dirty="0"/>
              <a:t>Uses CNN-based models: YuNet (face detection) and SFace (face recognition) loaded via OpenCV DNN module.</a:t>
            </a:r>
          </a:p>
          <a:p>
            <a:r>
              <a:rPr lang="en-US" dirty="0"/>
              <a:t>Combining both biometric modalities improves accuracy, reliability, and robustness in dynamic environments.</a:t>
            </a:r>
          </a:p>
          <a:p>
            <a:r>
              <a:rPr lang="en-US" dirty="0"/>
              <a:t>Implemented as a complete desktop application running in real-time on standard laptop hardware — no GPU needed.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492875"/>
            <a:ext cx="8229600" cy="365125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Dept. of Computer Application, SMIT, Majhitar, East Sikkim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General Overview Of The Problem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Traditional security systems often rely only on Face recognition, which may fail when faces are covered or unclear.</a:t>
            </a:r>
          </a:p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People can avoid identification using masks, low lighting, or camera angles.</a:t>
            </a:r>
          </a:p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Security systems need a more reliable way to identify individuals in different situations.</a:t>
            </a:r>
          </a:p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Combining face recognition with gait(walking style) recognition helps improve identification accuracy and security.</a:t>
            </a:r>
          </a:p>
          <a:p>
            <a:pPr marL="45720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62000" y="6492875"/>
            <a:ext cx="7467600" cy="365125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Dept. of Computer Application, SMIT, Majhitar, East Sikkim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2270-502C-5720-8E60-DB4BC89DD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6320"/>
            <a:ext cx="8229600" cy="1143000"/>
          </a:xfrm>
        </p:spPr>
        <p:txBody>
          <a:bodyPr/>
          <a:lstStyle/>
          <a:p>
            <a:pPr algn="l"/>
            <a:r>
              <a:rPr lang="en-US" b="1" dirty="0">
                <a:latin typeface="Times New Roman" pitchFamily="18" charset="0"/>
                <a:cs typeface="Times New Roman" pitchFamily="18" charset="0"/>
              </a:rPr>
              <a:t>Aim and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182F7-E2A4-5150-A397-796640C21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4876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  <a:r>
              <a:rPr lang="en-US" dirty="0" sz="2400"/>
              <a:t>The main aim is to develop a real-time deep learning surveillance system combining CNN-based face recognition and gait analysis for accurate human identification under varying conditions.</a:t>
            </a:r>
          </a:p>
          <a:p>
            <a:r>
              <a:rPr lang="en-US" dirty="0" sz="2400" b="1"/>
              <a:t>Objective:</a:t>
            </a:r>
          </a:p>
          <a:p>
            <a:r>
              <a:rPr lang="en-US" dirty="0" sz="2400" b="1"/>
              <a:t>Primary Objectives:</a:t>
            </a:r>
          </a:p>
          <a:p>
            <a:r>
              <a:rPr lang="en-US" dirty="0" sz="2400"/>
              <a:t>Develop a real-time surveillance system combining CNN face recognition and motion-based gait analysis.</a:t>
            </a:r>
          </a:p>
          <a:p>
            <a:r>
              <a:rPr lang="en-US" dirty="0" sz="2400"/>
              <a:t>Build a face recognition module using SFace CNN (cv2.FaceRecognizerSF) to identify individuals from live video.</a:t>
            </a:r>
          </a:p>
          <a:p>
            <a:r>
              <a:rPr lang="en-US" dirty="0" sz="2400"/>
              <a:t>Implement gait detection and classification (Standing / Walking / Running) using MOG2 background subtraction.</a:t>
            </a:r>
          </a:p>
          <a:p>
            <a:r>
              <a:rPr lang="en-US" dirty="0" sz="2400"/>
              <a:t>Integrate both modules into a unified Tkinter desktop application for improved recognition accuracy.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E015F3-DA33-0F35-67CB-E936EDFB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Computer Application, SMIT, Majhitar, East Sikkim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98A028-85BC-E183-51F8-C8D74B81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2296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  <a:r>
              <a:rPr lang="en-US" dirty="0" sz="2400" b="1"/>
              <a:t>Secondary Objectives:</a:t>
            </a:r>
          </a:p>
          <a:p>
            <a:r>
              <a:rPr lang="en-US" dirty="0" sz="2400"/>
              <a:t>Study and apply CNN-based deep learning models (YuNet, SFace) for real-time biometric recognition.</a:t>
            </a:r>
          </a:p>
          <a:p>
            <a:r>
              <a:rPr lang="en-US" dirty="0" sz="2400"/>
              <a:t>Achieve real-time video processing at 15–25 FPS on standard laptop CPU without any GPU.</a:t>
            </a:r>
          </a:p>
          <a:p>
            <a:r>
              <a:rPr lang="en-US" dirty="0" sz="2400"/>
              <a:t>Improve robustness under challenging conditions: low light, partial occlusion, and pose variation.</a:t>
            </a:r>
          </a:p>
          <a:p>
            <a:r>
              <a:rPr lang="en-US" dirty="0" sz="2400"/>
              <a:t>Evaluate accuracy using Leave-One-Out Cross-Validation (LOOCV), augmentation tests, and rejection rate.</a:t>
            </a:r>
          </a:p>
          <a:p>
            <a:r>
              <a:rPr lang="en-US" dirty="0" sz="2400"/>
              <a:t>Design the system for practical security applications: campus access control, office surveillance.</a:t>
            </a:r>
          </a:p>
          <a:p>
            <a:r>
              <a:rPr lang="en-US" dirty="0" sz="2400"/>
              <a:t>Run fully offline on commodity hardware — no cloud services, internet dependency, or paid APIs.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Computer Application, SMIT, Majhitar, East Sikkim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73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Feasibility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z="3000" b="1"/>
              <a:t>Technical Feasibility:</a:t>
            </a:r>
          </a:p>
          <a:p>
            <a:r>
              <a:rPr lang="en-US" dirty="0" sz="2400"/>
              <a:t>–  Uses OpenCV DNN module with ONNX-format CNN models (YuNet for detection, SFace for recognition).</a:t>
            </a:r>
          </a:p>
          <a:p>
            <a:r>
              <a:rPr lang="en-US" dirty="0" sz="2400"/>
              <a:t>–  Python + Tkinter provides a complete cross-platform desktop solution with no extra dependencies.</a:t>
            </a:r>
          </a:p>
          <a:p>
            <a:r>
              <a:rPr lang="en-US" dirty="0" sz="2400"/>
              <a:t>–  OpenCV 4.5+ supports cv2.FaceDetectorYN and cv2.FaceRecognizerSF natively on CPU.</a:t>
            </a:r>
          </a:p>
          <a:p>
            <a:r>
              <a:rPr lang="en-US" dirty="0" sz="3000" b="1"/>
              <a:t>Economic Feasibility:</a:t>
            </a:r>
          </a:p>
          <a:p>
            <a:r>
              <a:rPr lang="en-US" dirty="0" sz="2400"/>
              <a:t>–  All libraries are open-source and free: OpenCV, Python, Pillow, NumPy, Tkinter.</a:t>
            </a:r>
          </a:p>
          <a:p>
            <a:r>
              <a:rPr lang="en-US" dirty="0" sz="2400"/>
              <a:t>–  No GPU, cloud subscription, or paid API required — runs on existing hardware.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47800" y="6356350"/>
            <a:ext cx="6553200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Dept. of Computer Application, SMIT, Majhitar, East Sikkim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AF99B-3D62-C927-BF0E-05F950637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526"/>
            <a:ext cx="8229600" cy="59896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z="2400"/>
              <a:t>–  Deployment possible using existing webcams and standard Windows / Linux computers.</a:t>
            </a:r>
          </a:p>
          <a:p>
            <a:r>
              <a:rPr lang="en-US" dirty="0" sz="2000"/>
              <a:t/>
            </a:r>
          </a:p>
          <a:p>
            <a:r>
              <a:rPr lang="en-US" dirty="0" sz="2400" b="1"/>
              <a:t>Operational Feasibility:</a:t>
            </a:r>
          </a:p>
          <a:p>
            <a:r>
              <a:rPr lang="en-US" dirty="0" sz="2400"/>
              <a:t>–  Single-click run.bat launcher for Windows — no technical expertise required to operate.</a:t>
            </a:r>
          </a:p>
          <a:p>
            <a:r>
              <a:rPr lang="en-US" dirty="0" sz="2400"/>
              <a:t>–  One-shot face registration; instant CNN embedding storage without any model retraining.</a:t>
            </a:r>
          </a:p>
          <a:p>
            <a:r>
              <a:rPr lang="en-US" dirty="0" sz="2000"/>
              <a:t/>
            </a:r>
          </a:p>
          <a:p>
            <a:r>
              <a:rPr lang="en-US" dirty="0" sz="2400" b="1"/>
              <a:t>Legal &amp; Ethical Feasibility:</a:t>
            </a:r>
          </a:p>
          <a:p>
            <a:r>
              <a:rPr lang="en-US" dirty="0" sz="2400"/>
              <a:t>–  All face embeddings and images stored locally — no cloud upload or third-party processing.</a:t>
            </a:r>
          </a:p>
          <a:p>
            <a:r>
              <a:rPr lang="en-US" dirty="0" sz="2400"/>
              <a:t>–  System intended for consented institutional surveillance with operator oversight only.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B76EC-20E9-8DC1-2DD1-702B90D1F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854C9B-B8BD-1471-DA27-CC03AD1F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30A61BE-1BA4-41D7-975A-BF538DEFEF9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15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B348D-207B-FEA5-0AA9-4AB1FC549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526"/>
            <a:ext cx="8229600" cy="5989638"/>
          </a:xfrm>
        </p:spPr>
        <p:txBody>
          <a:bodyPr/>
          <a:lstStyle/>
          <a:p>
            <a:r>
              <a:rPr lang="en-US" dirty="0" sz="2400" b="1"/>
              <a:t>Schedule Feasibility:</a:t>
            </a:r>
          </a:p>
          <a:p>
            <a:r>
              <a:rPr lang="en-US" dirty="0" sz="2400"/>
              <a:t>–  All six core modules completed within the planned academic semester timeline.</a:t>
            </a:r>
          </a:p>
          <a:p>
            <a:r>
              <a:rPr lang="en-US" dirty="0" sz="2400"/>
              <a:t>–  Phases: Literature review → System design → Module development → Integration → Testing → Presentation.</a:t>
            </a:r>
          </a:p>
          <a:p>
            <a:r>
              <a:rPr lang="en-US" dirty="0" sz="2400"/>
              <a:t>–  Face detection, recognition, gait analysis, GUI, logging, and accuracy testing all delivered on schedule.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8D069-3C1E-985C-EEC9-174FEB61F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11E48-77DE-9288-3CD3-0497B50D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4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5190-6FE9-DBB9-8060-AB5BE10B9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1427A-40CA-63B0-F298-06B0F3725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5A700-9AD5-2564-B8BB-7ABE58FC3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7686F17-531B-19B7-37D1-105E74858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386279"/>
              </p:ext>
            </p:extLst>
          </p:nvPr>
        </p:nvGraphicFramePr>
        <p:xfrm>
          <a:off x="76200" y="1295400"/>
          <a:ext cx="8839199" cy="20113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2673">
                  <a:extLst>
                    <a:ext uri="{9D8B030D-6E8A-4147-A177-3AD203B41FA5}">
                      <a16:colId xmlns:a16="http://schemas.microsoft.com/office/drawing/2014/main" val="3324927566"/>
                    </a:ext>
                  </a:extLst>
                </a:gridCol>
                <a:gridCol w="1843726">
                  <a:extLst>
                    <a:ext uri="{9D8B030D-6E8A-4147-A177-3AD203B41FA5}">
                      <a16:colId xmlns:a16="http://schemas.microsoft.com/office/drawing/2014/main" val="3771879083"/>
                    </a:ext>
                  </a:extLst>
                </a:gridCol>
                <a:gridCol w="1311985">
                  <a:extLst>
                    <a:ext uri="{9D8B030D-6E8A-4147-A177-3AD203B41FA5}">
                      <a16:colId xmlns:a16="http://schemas.microsoft.com/office/drawing/2014/main" val="118887532"/>
                    </a:ext>
                  </a:extLst>
                </a:gridCol>
                <a:gridCol w="999416">
                  <a:extLst>
                    <a:ext uri="{9D8B030D-6E8A-4147-A177-3AD203B41FA5}">
                      <a16:colId xmlns:a16="http://schemas.microsoft.com/office/drawing/2014/main" val="2360458596"/>
                    </a:ext>
                  </a:extLst>
                </a:gridCol>
                <a:gridCol w="1531923">
                  <a:extLst>
                    <a:ext uri="{9D8B030D-6E8A-4147-A177-3AD203B41FA5}">
                      <a16:colId xmlns:a16="http://schemas.microsoft.com/office/drawing/2014/main" val="4104897801"/>
                    </a:ext>
                  </a:extLst>
                </a:gridCol>
                <a:gridCol w="2049476">
                  <a:extLst>
                    <a:ext uri="{9D8B030D-6E8A-4147-A177-3AD203B41FA5}">
                      <a16:colId xmlns:a16="http://schemas.microsoft.com/office/drawing/2014/main" val="484564504"/>
                    </a:ext>
                  </a:extLst>
                </a:gridCol>
              </a:tblGrid>
              <a:tr h="283812">
                <a:tc>
                  <a:txBody>
                    <a:bodyPr/>
                    <a:lstStyle/>
                    <a:p>
                      <a:pPr marL="73025">
                        <a:spcBef>
                          <a:spcPts val="40"/>
                        </a:spcBef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Reference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0645">
                        <a:spcBef>
                          <a:spcPts val="40"/>
                        </a:spcBef>
                        <a:buNone/>
                      </a:pP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Title (with Journal)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11480">
                        <a:spcBef>
                          <a:spcPts val="40"/>
                        </a:spcBef>
                        <a:buNone/>
                      </a:pP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Author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34315">
                        <a:spcBef>
                          <a:spcPts val="40"/>
                        </a:spcBef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Year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95275">
                        <a:spcBef>
                          <a:spcPts val="40"/>
                        </a:spcBef>
                        <a:buNone/>
                      </a:pP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Methodology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00355">
                        <a:spcBef>
                          <a:spcPts val="40"/>
                        </a:spcBef>
                        <a:buNone/>
                      </a:pP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Research Gap / Contribution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2009713"/>
                  </a:ext>
                </a:extLst>
              </a:tr>
              <a:tr h="1727550">
                <a:tc>
                  <a:txBody>
                    <a:bodyPr/>
                    <a:lstStyle/>
                    <a:p>
                      <a:pPr marL="63500">
                        <a:lnSpc>
                          <a:spcPts val="1110"/>
                        </a:lnSpc>
                        <a:buNone/>
                      </a:pP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900" b="0"/>
                        <a:t>[1]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0645" marR="144145">
                        <a:buNone/>
                      </a:pPr>
                      <a:endParaRPr lang="en-IN" sz="1100">
                        <a:effectLst/>
                      </a:endParaRPr>
                      <a:r>
                        <a:rPr lang="en-US" dirty="0" sz="900" b="0"/>
                        <a:t>A Review of Deep Learning Approaches for Human Gait Recognition. INOCON 2023, IEEE.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6995"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900" b="0"/>
                        <a:t>Pundir, A. &amp; Sharma, M.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110"/>
                        </a:lnSpc>
                        <a:buNone/>
                      </a:pP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900" b="0"/>
                        <a:t>2023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6840" marR="116840">
                        <a:buNone/>
                      </a:pPr>
                      <a:endParaRPr lang="en-IN" sz="1100">
                        <a:effectLst/>
                      </a:endParaRPr>
                      <a:r>
                        <a:rPr lang="en-US" dirty="0" sz="900" b="0"/>
                        <a:t>Survey of CNN + sequence models for gait recognition across datasets.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1285" marR="138430"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900" b="0"/>
                        <a:t>Identifies gap in multi-view and real-time gait recognition under occlusion.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972263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1214268-D5DD-CAE9-84EE-0DCB9B84E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82861"/>
              </p:ext>
            </p:extLst>
          </p:nvPr>
        </p:nvGraphicFramePr>
        <p:xfrm>
          <a:off x="76200" y="3352800"/>
          <a:ext cx="8839198" cy="2362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2673">
                  <a:extLst>
                    <a:ext uri="{9D8B030D-6E8A-4147-A177-3AD203B41FA5}">
                      <a16:colId xmlns:a16="http://schemas.microsoft.com/office/drawing/2014/main" val="392570075"/>
                    </a:ext>
                  </a:extLst>
                </a:gridCol>
                <a:gridCol w="1792926">
                  <a:extLst>
                    <a:ext uri="{9D8B030D-6E8A-4147-A177-3AD203B41FA5}">
                      <a16:colId xmlns:a16="http://schemas.microsoft.com/office/drawing/2014/main" val="2528047699"/>
                    </a:ext>
                  </a:extLst>
                </a:gridCol>
                <a:gridCol w="1362786">
                  <a:extLst>
                    <a:ext uri="{9D8B030D-6E8A-4147-A177-3AD203B41FA5}">
                      <a16:colId xmlns:a16="http://schemas.microsoft.com/office/drawing/2014/main" val="117422785"/>
                    </a:ext>
                  </a:extLst>
                </a:gridCol>
                <a:gridCol w="888908">
                  <a:extLst>
                    <a:ext uri="{9D8B030D-6E8A-4147-A177-3AD203B41FA5}">
                      <a16:colId xmlns:a16="http://schemas.microsoft.com/office/drawing/2014/main" val="812962989"/>
                    </a:ext>
                  </a:extLst>
                </a:gridCol>
                <a:gridCol w="1642430">
                  <a:extLst>
                    <a:ext uri="{9D8B030D-6E8A-4147-A177-3AD203B41FA5}">
                      <a16:colId xmlns:a16="http://schemas.microsoft.com/office/drawing/2014/main" val="3443919358"/>
                    </a:ext>
                  </a:extLst>
                </a:gridCol>
                <a:gridCol w="2049475">
                  <a:extLst>
                    <a:ext uri="{9D8B030D-6E8A-4147-A177-3AD203B41FA5}">
                      <a16:colId xmlns:a16="http://schemas.microsoft.com/office/drawing/2014/main" val="3900337804"/>
                    </a:ext>
                  </a:extLst>
                </a:gridCol>
              </a:tblGrid>
              <a:tr h="2362200">
                <a:tc>
                  <a:txBody>
                    <a:bodyPr/>
                    <a:lstStyle/>
                    <a:p>
                      <a:pPr marL="63500">
                        <a:lnSpc>
                          <a:spcPts val="1110"/>
                        </a:lnSpc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[2]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0645" marR="510540">
                        <a:buNone/>
                      </a:pPr>
                      <a:endParaRPr lang="en-IN" sz="1100" dirty="0">
                        <a:effectLst/>
                      </a:endParaRPr>
                      <a:r>
                        <a:rPr lang="en-US" dirty="0" sz="1000" b="1"/>
                        <a:t>Gait Speed Based Individual Recognition using Deep 2-D CNN. ICCCI 2023, IEEE.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110"/>
                        </a:lnSpc>
                        <a:buNone/>
                      </a:pPr>
                      <a:endParaRPr lang="en-IN" sz="1100" dirty="0">
                        <a:effectLst/>
                      </a:endParaRPr>
                      <a:r>
                        <a:rPr lang="en-US" dirty="0" sz="1000" b="1"/>
                        <a:t>Lal, A. &amp; Nithyakani, P.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110"/>
                        </a:lnSpc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2023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16840" marR="246380">
                        <a:buNone/>
                      </a:pPr>
                      <a:endParaRPr lang="en-IN" sz="1100">
                        <a:effectLst/>
                      </a:endParaRPr>
                      <a:r>
                        <a:rPr lang="en-US" dirty="0" sz="1000" b="1"/>
                        <a:t>2-D CNN trained on gait speed features for person identification.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1285" marR="173355"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Scope limited to speed-based features; view-invariant recognition unexplored.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28895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1467D6F-CC2C-299C-7AF7-03892B9809D4}"/>
              </a:ext>
            </a:extLst>
          </p:cNvPr>
          <p:cNvSpPr txBox="1"/>
          <p:nvPr/>
        </p:nvSpPr>
        <p:spPr>
          <a:xfrm>
            <a:off x="3848086" y="5789711"/>
            <a:ext cx="2049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1: 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1717259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036D0-0B1E-EDB7-B593-51C6F749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D2CD8-2AFE-851E-9047-21068E4E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56360F-E605-8430-90E0-36676A546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776383"/>
              </p:ext>
            </p:extLst>
          </p:nvPr>
        </p:nvGraphicFramePr>
        <p:xfrm>
          <a:off x="0" y="136525"/>
          <a:ext cx="9144001" cy="2286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0697">
                  <a:extLst>
                    <a:ext uri="{9D8B030D-6E8A-4147-A177-3AD203B41FA5}">
                      <a16:colId xmlns:a16="http://schemas.microsoft.com/office/drawing/2014/main" val="2275205232"/>
                    </a:ext>
                  </a:extLst>
                </a:gridCol>
                <a:gridCol w="1907304">
                  <a:extLst>
                    <a:ext uri="{9D8B030D-6E8A-4147-A177-3AD203B41FA5}">
                      <a16:colId xmlns:a16="http://schemas.microsoft.com/office/drawing/2014/main" val="747958340"/>
                    </a:ext>
                  </a:extLst>
                </a:gridCol>
                <a:gridCol w="1357227">
                  <a:extLst>
                    <a:ext uri="{9D8B030D-6E8A-4147-A177-3AD203B41FA5}">
                      <a16:colId xmlns:a16="http://schemas.microsoft.com/office/drawing/2014/main" val="2018367957"/>
                    </a:ext>
                  </a:extLst>
                </a:gridCol>
                <a:gridCol w="919560">
                  <a:extLst>
                    <a:ext uri="{9D8B030D-6E8A-4147-A177-3AD203B41FA5}">
                      <a16:colId xmlns:a16="http://schemas.microsoft.com/office/drawing/2014/main" val="2418847756"/>
                    </a:ext>
                  </a:extLst>
                </a:gridCol>
                <a:gridCol w="1699066">
                  <a:extLst>
                    <a:ext uri="{9D8B030D-6E8A-4147-A177-3AD203B41FA5}">
                      <a16:colId xmlns:a16="http://schemas.microsoft.com/office/drawing/2014/main" val="1571695773"/>
                    </a:ext>
                  </a:extLst>
                </a:gridCol>
                <a:gridCol w="2120147">
                  <a:extLst>
                    <a:ext uri="{9D8B030D-6E8A-4147-A177-3AD203B41FA5}">
                      <a16:colId xmlns:a16="http://schemas.microsoft.com/office/drawing/2014/main" val="208376925"/>
                    </a:ext>
                  </a:extLst>
                </a:gridCol>
              </a:tblGrid>
              <a:tr h="2073275">
                <a:tc>
                  <a:txBody>
                    <a:bodyPr/>
                    <a:lstStyle/>
                    <a:p>
                      <a:pPr marL="63500">
                        <a:lnSpc>
                          <a:spcPts val="1120"/>
                        </a:lnSpc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[3]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37185" marR="88265">
                        <a:buNone/>
                      </a:pPr>
                      <a:endParaRPr lang="en-IN" sz="1100">
                        <a:effectLst/>
                      </a:endParaRPr>
                      <a:r>
                        <a:rPr lang="en-US" dirty="0" sz="1000" b="1"/>
                        <a:t>Face Detection and Recognition using Cascade Classification. 2022.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2710" marR="91440">
                        <a:buNone/>
                      </a:pPr>
                      <a:endParaRPr lang="en-IN" sz="1100" dirty="0">
                        <a:effectLst/>
                      </a:endParaRPr>
                      <a:r>
                        <a:rPr lang="en-US" dirty="0" sz="1000" b="1"/>
                        <a:t>Siddiqui, M. F.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1120"/>
                        </a:lnSpc>
                        <a:buNone/>
                      </a:pP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2022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95580" marR="92075">
                        <a:buNone/>
                      </a:pP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Viola-Jones Haar Cascade for face detection + classical recognition.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81915" marR="107950">
                        <a:buNone/>
                      </a:pP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Gap in exploring CNN-based alternatives for real-time deployment.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80603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8F14F5-CC5D-B3E3-8557-CF5607917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383406"/>
              </p:ext>
            </p:extLst>
          </p:nvPr>
        </p:nvGraphicFramePr>
        <p:xfrm>
          <a:off x="0" y="2422525"/>
          <a:ext cx="9144000" cy="17467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0696">
                  <a:extLst>
                    <a:ext uri="{9D8B030D-6E8A-4147-A177-3AD203B41FA5}">
                      <a16:colId xmlns:a16="http://schemas.microsoft.com/office/drawing/2014/main" val="3972784721"/>
                    </a:ext>
                  </a:extLst>
                </a:gridCol>
                <a:gridCol w="1907304">
                  <a:extLst>
                    <a:ext uri="{9D8B030D-6E8A-4147-A177-3AD203B41FA5}">
                      <a16:colId xmlns:a16="http://schemas.microsoft.com/office/drawing/2014/main" val="2094244344"/>
                    </a:ext>
                  </a:extLst>
                </a:gridCol>
                <a:gridCol w="1357227">
                  <a:extLst>
                    <a:ext uri="{9D8B030D-6E8A-4147-A177-3AD203B41FA5}">
                      <a16:colId xmlns:a16="http://schemas.microsoft.com/office/drawing/2014/main" val="3541843026"/>
                    </a:ext>
                  </a:extLst>
                </a:gridCol>
                <a:gridCol w="919560">
                  <a:extLst>
                    <a:ext uri="{9D8B030D-6E8A-4147-A177-3AD203B41FA5}">
                      <a16:colId xmlns:a16="http://schemas.microsoft.com/office/drawing/2014/main" val="1701504918"/>
                    </a:ext>
                  </a:extLst>
                </a:gridCol>
                <a:gridCol w="1699066">
                  <a:extLst>
                    <a:ext uri="{9D8B030D-6E8A-4147-A177-3AD203B41FA5}">
                      <a16:colId xmlns:a16="http://schemas.microsoft.com/office/drawing/2014/main" val="2914185963"/>
                    </a:ext>
                  </a:extLst>
                </a:gridCol>
                <a:gridCol w="2120147">
                  <a:extLst>
                    <a:ext uri="{9D8B030D-6E8A-4147-A177-3AD203B41FA5}">
                      <a16:colId xmlns:a16="http://schemas.microsoft.com/office/drawing/2014/main" val="458151870"/>
                    </a:ext>
                  </a:extLst>
                </a:gridCol>
              </a:tblGrid>
              <a:tr h="174672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>
                        <a:effectLst/>
                      </a:endParaRPr>
                      <a:r>
                        <a:rPr lang="en-US" dirty="0" sz="1000" b="1"/>
                        <a:t>[4]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>
                        <a:effectLst/>
                      </a:endParaRPr>
                      <a:r>
                        <a:rPr lang="en-US" dirty="0" sz="1000" b="1"/>
                        <a:t>Real-Time Human Recognition using YOLOv3 + Face Recognition. 2022.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>
                        <a:effectLst/>
                      </a:endParaRPr>
                      <a:r>
                        <a:rPr lang="en-US" dirty="0" sz="1000" b="1"/>
                        <a:t>Manssor, S. A. F.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>
                        <a:effectLst/>
                      </a:endParaRPr>
                      <a:r>
                        <a:rPr lang="en-US" dirty="0" sz="1000" b="1"/>
                        <a:t>2022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>
                        <a:effectLst/>
                      </a:endParaRPr>
                      <a:r>
                        <a:rPr lang="en-US" dirty="0" sz="1000" b="1"/>
                        <a:t>YOLOv3 for person detection combined with face recognition pipeline.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>
                        <a:effectLst/>
                      </a:endParaRPr>
                      <a:r>
                        <a:rPr lang="en-US" dirty="0" sz="1000" b="1"/>
                        <a:t>Achieving real-time performance on edge devices remains a challenge.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229327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35E3479-57EE-75AA-CB74-6621814C9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655209"/>
              </p:ext>
            </p:extLst>
          </p:nvPr>
        </p:nvGraphicFramePr>
        <p:xfrm>
          <a:off x="1" y="3606800"/>
          <a:ext cx="9144000" cy="2108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0697">
                  <a:extLst>
                    <a:ext uri="{9D8B030D-6E8A-4147-A177-3AD203B41FA5}">
                      <a16:colId xmlns:a16="http://schemas.microsoft.com/office/drawing/2014/main" val="1431282101"/>
                    </a:ext>
                  </a:extLst>
                </a:gridCol>
                <a:gridCol w="1907304">
                  <a:extLst>
                    <a:ext uri="{9D8B030D-6E8A-4147-A177-3AD203B41FA5}">
                      <a16:colId xmlns:a16="http://schemas.microsoft.com/office/drawing/2014/main" val="1216385733"/>
                    </a:ext>
                  </a:extLst>
                </a:gridCol>
                <a:gridCol w="1357226">
                  <a:extLst>
                    <a:ext uri="{9D8B030D-6E8A-4147-A177-3AD203B41FA5}">
                      <a16:colId xmlns:a16="http://schemas.microsoft.com/office/drawing/2014/main" val="1430176724"/>
                    </a:ext>
                  </a:extLst>
                </a:gridCol>
                <a:gridCol w="919560">
                  <a:extLst>
                    <a:ext uri="{9D8B030D-6E8A-4147-A177-3AD203B41FA5}">
                      <a16:colId xmlns:a16="http://schemas.microsoft.com/office/drawing/2014/main" val="1174581603"/>
                    </a:ext>
                  </a:extLst>
                </a:gridCol>
                <a:gridCol w="1699066">
                  <a:extLst>
                    <a:ext uri="{9D8B030D-6E8A-4147-A177-3AD203B41FA5}">
                      <a16:colId xmlns:a16="http://schemas.microsoft.com/office/drawing/2014/main" val="3065047526"/>
                    </a:ext>
                  </a:extLst>
                </a:gridCol>
                <a:gridCol w="2120147">
                  <a:extLst>
                    <a:ext uri="{9D8B030D-6E8A-4147-A177-3AD203B41FA5}">
                      <a16:colId xmlns:a16="http://schemas.microsoft.com/office/drawing/2014/main" val="1491948436"/>
                    </a:ext>
                  </a:extLst>
                </a:gridCol>
              </a:tblGrid>
              <a:tr h="17526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>
                        <a:effectLst/>
                      </a:endParaRPr>
                      <a:r>
                        <a:rPr lang="en-US" dirty="0" sz="1000" b="1"/>
                        <a:t>[5]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>
                        <a:effectLst/>
                      </a:endParaRPr>
                      <a:r>
                        <a:rPr lang="en-US" dirty="0" sz="1000" b="1"/>
                        <a:t>SFace: Sigmoid-Constrained Hypersphere Loss for Face Recognition. IEEE TIP.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>
                        <a:effectLst/>
                      </a:endParaRPr>
                      <a:r>
                        <a:rPr lang="en-US" dirty="0" sz="1000" b="1"/>
                        <a:t>Wang, F.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  <a:r>
                        <a:rPr lang="en-US" dirty="0" sz="1000" b="1"/>
                        <a:t>2021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>
                        <a:effectLst/>
                      </a:endParaRPr>
                      <a:r>
                        <a:rPr lang="en-US" dirty="0" sz="1000" b="1"/>
                        <a:t>CNN trained with SFace loss; 128-dim embeddings matched via cosine similarity.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dirty="0">
                        <a:effectLst/>
                      </a:endParaRPr>
                      <a:r>
                        <a:rPr lang="en-US" dirty="0" sz="1000" b="1"/>
                        <a:t>Basis for the face recognition module used in this project (cv2.FaceRecognizerSF).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444969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1467D6F-CC2C-299C-7AF7-03892B9809D4}"/>
              </a:ext>
            </a:extLst>
          </p:cNvPr>
          <p:cNvSpPr txBox="1"/>
          <p:nvPr/>
        </p:nvSpPr>
        <p:spPr>
          <a:xfrm>
            <a:off x="3848086" y="5789711"/>
            <a:ext cx="2049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1: 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230281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6E300-787F-4934-2896-AFBDC0E5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DB37F-8593-95CE-C25B-B2C5896AE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surveillance systems rely mainly on face recognition, which is not always reliable.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fails in conditions like poor lighting, masks, or occluded faces.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appearance reduce recognition accuracy.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more reliable system for real-time identification.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face and gait recognition can improve security and accuracy.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D322E-DB83-7455-AE15-3B2B418D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FF084-783D-16F8-65D6-BE5CB3E2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33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4F4E0-4D9A-A2AF-7CC9-36FA62CE3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A8C1E-FD65-0DD1-35A1-E28CB67CC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z="2800"/>
              <a:t>Implement CNN-based face detection using YuNet (cv2.FaceDetectorYN) — ONNX model auto-downloaded; falls back to Haar if offline.</a:t>
            </a:r>
          </a:p>
          <a:p>
            <a:r>
              <a:rPr lang="en-US" dirty="0" sz="2800"/>
              <a:t>Implement CNN-based face recognition using SFace (cv2.FaceRecognizerSF) — 128-dim embeddings; cosine similarity matching with threshold 0.363.</a:t>
            </a:r>
          </a:p>
          <a:p>
            <a:r>
              <a:rPr lang="en-US" dirty="0" sz="2800"/>
              <a:t>Implement gait detection using MOG2 background subtraction + centroid tracking for Standing / Walking / Running classification.</a:t>
            </a:r>
          </a:p>
          <a:p>
            <a:r>
              <a:rPr lang="en-US" dirty="0" sz="2800"/>
              <a:t>Integrate all modules into a unified Tkinter GUI: live video, face + gait overlays, register faces, screenshot, recognition log.</a:t>
            </a:r>
          </a:p>
          <a:p>
            <a:r>
              <a:rPr lang="en-US" dirty="0" sz="2800"/>
              <a:t>Log every recognition event (name, confidence, gait, timestamp) to recognition_log.csv for audit and evaluation.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59845-8F0D-4184-86A8-75A84AD13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FCD6D-E72F-7844-8045-3772CA05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45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A35B-DA45-D25C-45A5-10E6E5072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526"/>
            <a:ext cx="8229600" cy="6219824"/>
          </a:xfrm>
        </p:spPr>
        <p:txBody>
          <a:bodyPr>
            <a:normAutofit/>
          </a:bodyPr>
          <a:lstStyle/>
          <a:p>
            <a:r>
              <a:rPr lang="en-US" dirty="0" sz="2800" b="1"/>
              <a:t>Hardware Requirements:</a:t>
            </a:r>
          </a:p>
          <a:p>
            <a:r>
              <a:rPr lang="en-US" dirty="0" sz="2800"/>
              <a:t>–  Personal computer or laptop (no GPU required)</a:t>
            </a:r>
          </a:p>
          <a:p>
            <a:r>
              <a:rPr lang="en-US" dirty="0" sz="2800"/>
              <a:t>–  Minimum 8 GB RAM,  Intel i5 Processor or equivalent</a:t>
            </a:r>
          </a:p>
          <a:p>
            <a:r>
              <a:rPr lang="en-US" dirty="0" sz="2800"/>
              <a:t>–  USB webcam or built-in camera</a:t>
            </a:r>
          </a:p>
          <a:p>
            <a:r>
              <a:rPr lang="en-US" dirty="0" sz="2800"/>
              <a:t>–  Internet connection (first run only — to download ONNX models)</a:t>
            </a:r>
          </a:p>
          <a:p>
            <a:r>
              <a:rPr lang="en-US" dirty="0" sz="1800"/>
              <a:t/>
            </a:r>
          </a:p>
          <a:p>
            <a:r>
              <a:rPr lang="en-US" dirty="0" sz="2800" b="1"/>
              <a:t>Software Requirements:</a:t>
            </a:r>
          </a:p>
          <a:p>
            <a:r>
              <a:rPr lang="en-US" dirty="0" sz="2800"/>
              <a:t>–  Operating System:  Windows 10/11  or  Linux</a:t>
            </a:r>
          </a:p>
          <a:p>
            <a:r>
              <a:rPr lang="en-US" dirty="0" sz="2800"/>
              <a:t>–  Python 3.8+   with pip package manager</a:t>
            </a:r>
          </a:p>
          <a:p>
            <a:r>
              <a:rPr lang="en-US" dirty="0" sz="2800"/>
              <a:t>–  opencv-contrib-python ≥ 4.5  (YuNet + SFace DNN module included)</a:t>
            </a:r>
          </a:p>
          <a:p>
            <a:r>
              <a:rPr lang="en-US" dirty="0" sz="2800"/>
              <a:t>–  Pillow,  NumPy,  Tkinter  (built-in with Python)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BEE9C-2E6A-970B-0E49-2FD207E7F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2424B-28BC-48E0-3B0E-4DCE9D61A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21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9AAA-3041-7973-7900-B3087B109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9305A-7502-F7F8-0D8A-AD6BFDBB4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Team Structure: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C8155-EC94-CD85-931B-07BADD89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C6F6F-92F5-4F9F-C825-6F284EE4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78E9B5-A6E4-8839-0791-CC3403894FA7}"/>
              </a:ext>
            </a:extLst>
          </p:cNvPr>
          <p:cNvSpPr/>
          <p:nvPr/>
        </p:nvSpPr>
        <p:spPr>
          <a:xfrm>
            <a:off x="1328530" y="2286000"/>
            <a:ext cx="19812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Internal Guide</a:t>
            </a:r>
          </a:p>
          <a:p>
            <a:pPr algn="ctr"/>
            <a:r>
              <a:rPr lang="en-IN" dirty="0"/>
              <a:t>Mr. Simanta Kalita</a:t>
            </a:r>
          </a:p>
          <a:p>
            <a:pPr algn="ctr"/>
            <a:r>
              <a:rPr lang="en-IN" dirty="0"/>
              <a:t>Assistant Professor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D5E67-0513-32F6-2F68-CD31D9CF9227}"/>
              </a:ext>
            </a:extLst>
          </p:cNvPr>
          <p:cNvSpPr/>
          <p:nvPr/>
        </p:nvSpPr>
        <p:spPr>
          <a:xfrm>
            <a:off x="5410200" y="2286000"/>
            <a:ext cx="2057400" cy="1143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External Guide</a:t>
            </a:r>
          </a:p>
          <a:p>
            <a:pPr algn="ctr"/>
            <a:r>
              <a:rPr lang="en-IN" dirty="0"/>
              <a:t>Mr. Sachin Manger</a:t>
            </a:r>
          </a:p>
          <a:p>
            <a:pPr algn="ctr"/>
            <a:r>
              <a:rPr lang="en-IN" dirty="0"/>
              <a:t>Senior Faculty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C6DB22-10F3-9193-2739-D103BB264AE5}"/>
              </a:ext>
            </a:extLst>
          </p:cNvPr>
          <p:cNvSpPr/>
          <p:nvPr/>
        </p:nvSpPr>
        <p:spPr>
          <a:xfrm>
            <a:off x="2971800" y="5297908"/>
            <a:ext cx="2895600" cy="589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Afsana Chettri(202422018)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24CAFF-0A62-5AAD-610B-6DD40B89F930}"/>
              </a:ext>
            </a:extLst>
          </p:cNvPr>
          <p:cNvCxnSpPr/>
          <p:nvPr/>
        </p:nvCxnSpPr>
        <p:spPr>
          <a:xfrm>
            <a:off x="2209800" y="3429000"/>
            <a:ext cx="0" cy="1066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24FBA7-B338-C3F8-4EE1-68B65E79D973}"/>
              </a:ext>
            </a:extLst>
          </p:cNvPr>
          <p:cNvCxnSpPr/>
          <p:nvPr/>
        </p:nvCxnSpPr>
        <p:spPr>
          <a:xfrm>
            <a:off x="6438900" y="3429000"/>
            <a:ext cx="0" cy="1066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921069-2F8F-C1B2-0941-424B2C15ACF2}"/>
              </a:ext>
            </a:extLst>
          </p:cNvPr>
          <p:cNvCxnSpPr/>
          <p:nvPr/>
        </p:nvCxnSpPr>
        <p:spPr>
          <a:xfrm>
            <a:off x="2209800" y="4495800"/>
            <a:ext cx="42291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F00D21-AE78-21F7-82EC-129F814AB4F5}"/>
              </a:ext>
            </a:extLst>
          </p:cNvPr>
          <p:cNvCxnSpPr/>
          <p:nvPr/>
        </p:nvCxnSpPr>
        <p:spPr>
          <a:xfrm>
            <a:off x="4419600" y="4495800"/>
            <a:ext cx="0" cy="782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33800" y="5943600"/>
            <a:ext cx="17259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/>
              <a:t>Fig 1: Team Structure</a:t>
            </a:r>
          </a:p>
        </p:txBody>
      </p:sp>
    </p:spTree>
    <p:extLst>
      <p:ext uri="{BB962C8B-B14F-4D97-AF65-F5344CB8AC3E}">
        <p14:creationId xmlns:p14="http://schemas.microsoft.com/office/powerpoint/2010/main" val="1975812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77D7-6022-A91D-2912-853ED66A1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14C89-6132-568A-8B46-63272A8D7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37F6E-04AF-E5F9-1C7B-D47385DE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B948BB-1C46-27B6-D8D7-82C5E2CDC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71195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027BB16-27C6-7BD6-52FF-56E3F586A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116915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88950" algn="l"/>
              </a:tabLst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45FEC37C-236E-3385-A255-354D8587A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3501" y="595315"/>
            <a:ext cx="13860379" cy="455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AB2C6AE-05EA-15E7-F441-803571963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3501" y="813988"/>
            <a:ext cx="13860379" cy="475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889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88950" algn="l"/>
              </a:tabLst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79" y="1169159"/>
            <a:ext cx="81534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467D6F-CC2C-299C-7AF7-03892B9809D4}"/>
              </a:ext>
            </a:extLst>
          </p:cNvPr>
          <p:cNvSpPr txBox="1"/>
          <p:nvPr/>
        </p:nvSpPr>
        <p:spPr>
          <a:xfrm>
            <a:off x="3848086" y="5789711"/>
            <a:ext cx="17487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2: Gantt-Chart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AB68B88-9653-B2D7-C410-8BFC0EAD2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727235"/>
              </p:ext>
            </p:extLst>
          </p:nvPr>
        </p:nvGraphicFramePr>
        <p:xfrm>
          <a:off x="1934554" y="5257800"/>
          <a:ext cx="3581399" cy="250444"/>
        </p:xfrm>
        <a:graphic>
          <a:graphicData uri="http://schemas.openxmlformats.org/drawingml/2006/table">
            <a:tbl>
              <a:tblPr firstRow="1" firstCol="1" bandRow="1"/>
              <a:tblGrid>
                <a:gridCol w="867421">
                  <a:extLst>
                    <a:ext uri="{9D8B030D-6E8A-4147-A177-3AD203B41FA5}">
                      <a16:colId xmlns:a16="http://schemas.microsoft.com/office/drawing/2014/main" val="3253163919"/>
                    </a:ext>
                  </a:extLst>
                </a:gridCol>
                <a:gridCol w="1812244">
                  <a:extLst>
                    <a:ext uri="{9D8B030D-6E8A-4147-A177-3AD203B41FA5}">
                      <a16:colId xmlns:a16="http://schemas.microsoft.com/office/drawing/2014/main" val="150310594"/>
                    </a:ext>
                  </a:extLst>
                </a:gridCol>
                <a:gridCol w="901734">
                  <a:extLst>
                    <a:ext uri="{9D8B030D-6E8A-4147-A177-3AD203B41FA5}">
                      <a16:colId xmlns:a16="http://schemas.microsoft.com/office/drawing/2014/main" val="1223392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01295" indent="-6350" algn="l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74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indent="-6350" algn="l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 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74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10" indent="-6350" algn="l">
                        <a:lnSpc>
                          <a:spcPct val="107000"/>
                        </a:lnSpc>
                        <a:spcAft>
                          <a:spcPts val="25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74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667279"/>
                  </a:ext>
                </a:extLst>
              </a:tr>
            </a:tbl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35DFADE7-4256-7841-117C-E94851350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748" y="5257798"/>
            <a:ext cx="29339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436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632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1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Computer Application, SMIT, Majhitar, East Sikkim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33800" y="5943600"/>
            <a:ext cx="16376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i="1" dirty="0"/>
              <a:t>Fig 2: Flow Diagram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688EB9-BC14-1CEA-493E-0BF2A6211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877" y="1777900"/>
            <a:ext cx="8229600" cy="452596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26AC84-DCA8-B7C7-9083-C79E6B324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02" y="762001"/>
            <a:ext cx="8583721" cy="5594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6617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1FB56C-BA21-7777-BA12-F4C66A6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  <a:r>
              <a:rPr lang="en-US" dirty="0" sz="2000"/>
              <a:t>Captures live video frames using USB webcam via cv2.VideoCapture (background thread).</a:t>
            </a:r>
          </a:p>
          <a:p>
            <a:r>
              <a:rPr lang="en-US" dirty="0" sz="2000"/>
              <a:t>Preprocesses frames: resized to 112×112 BGR for CNN; grayscale conversion for fallback.</a:t>
            </a:r>
          </a:p>
          <a:p>
            <a:r>
              <a:rPr lang="en-US" dirty="0" sz="2000"/>
              <a:t>YuNet CNN detects faces — returns bounding boxes (x, y, w, h) + 5 facial landmarks.</a:t>
            </a:r>
          </a:p>
          <a:p>
            <a:r>
              <a:rPr lang="en-US" dirty="0" sz="2000"/>
              <a:t>SFace CNN extracts 128-dim embedding → compared via cosine similarity against stored embeddings.</a:t>
            </a:r>
          </a:p>
          <a:p>
            <a:r>
              <a:rPr lang="en-US" dirty="0" sz="2000"/>
              <a:t>MOG2 background subtraction detects moving persons → centroid tracked over 30 frames.</a:t>
            </a:r>
          </a:p>
          <a:p>
            <a:r>
              <a:rPr lang="en-US" dirty="0" sz="2000"/>
              <a:t>GaitAnalyzer classifies movement: Standing (&lt;3 px/frame) / Walking (3–15) / Running (&gt;15).</a:t>
            </a:r>
          </a:p>
          <a:p>
            <a:r>
              <a:rPr lang="en-US" dirty="0" sz="2000"/>
              <a:t>Recognized identity + gait label overlaid on live frame as colour-coded bounding boxes.</a:t>
            </a:r>
          </a:p>
          <a:p>
            <a:r>
              <a:rPr lang="en-US" dirty="0" sz="2000"/>
              <a:t>Every detection event timestamped and appended to recognition_log.csv for audit.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4484F3-DFE5-0E48-CD36-D1C3C728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A6E63-E1DB-CE7E-B009-85614379F66B}"/>
              </a:ext>
            </a:extLst>
          </p:cNvPr>
          <p:cNvSpPr txBox="1"/>
          <p:nvPr/>
        </p:nvSpPr>
        <p:spPr>
          <a:xfrm>
            <a:off x="533400" y="60960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61BDA-4957-5436-D3E4-FD9AF2AA9E55}"/>
              </a:ext>
            </a:extLst>
          </p:cNvPr>
          <p:cNvSpPr txBox="1"/>
          <p:nvPr/>
        </p:nvSpPr>
        <p:spPr>
          <a:xfrm>
            <a:off x="533400" y="1828800"/>
            <a:ext cx="632460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Captures live data using camera (video input)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Preprocesses frames (noise removal, resizing, normalization)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Extracts features using deep learning (face and gait recognition)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Converts features into optimized vectors (feature representation)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Applies dimensionality reduction to improve efficiency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Uses a classifier to match identity with stored database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Produces final output as recognized person or detection result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Works in real-time for surveillance and security applications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9109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processing workflow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Computer Application, SMIT, Majhitar, East Sikkim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2" r="2916"/>
          <a:stretch>
            <a:fillRect/>
          </a:stretch>
        </p:blipFill>
        <p:spPr bwMode="auto">
          <a:xfrm>
            <a:off x="457200" y="1371600"/>
            <a:ext cx="8305800" cy="4184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467D6F-CC2C-299C-7AF7-03892B9809D4}"/>
              </a:ext>
            </a:extLst>
          </p:cNvPr>
          <p:cNvSpPr txBox="1"/>
          <p:nvPr/>
        </p:nvSpPr>
        <p:spPr>
          <a:xfrm>
            <a:off x="3848086" y="5789711"/>
            <a:ext cx="1784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Fig3: 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325065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34CBF-3C85-9E30-FC77-A3C2AC8FA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Data processing workflow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8E1D8-7996-8B8D-D6D4-4E97796A4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Computer Application, SMIT, Majhitar, East Sikkim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1DE8F-3E74-8389-4120-B7B8FBE8A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EBBF444-535E-10CB-6E09-1D582D9686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01024"/>
            <a:ext cx="6858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 sz="1800" b="1"/>
              <a:t>Data Collection
Captures real-time video via webcam; registered face images stored in dataset/known_faces/&lt;name&gt;/</a:t>
            </a:r>
          </a:p>
          <a:p>
            <a:r>
              <a:rPr lang="en-US" dirty="0" sz="1800" b="1"/>
              <a:t>Preprocessing
Frames resized to 112×112 BGR; grayscale for Haar fallback; pixel normalization applied.</a:t>
            </a:r>
          </a:p>
          <a:p>
            <a:r>
              <a:rPr lang="en-US" dirty="0" sz="1800" b="1"/>
              <a:t>Feature Extraction
YuNet CNN detects face bounding boxes; SFace CNN extracts 128-dim embedding vectors.</a:t>
            </a:r>
          </a:p>
          <a:p>
            <a:r>
              <a:rPr lang="en-US" dirty="0" sz="1800" b="1"/>
              <a:t>Feature Representation
Face: 128-dim float vector (cosine-comparable).  Gait: centroid trail over 30 frames.</a:t>
            </a:r>
          </a:p>
          <a:p>
            <a:r>
              <a:rPr lang="en-US" dirty="0" sz="1800" b="1"/>
              <a:t>Classifier
Cosine similarity ≥ 0.363 → known identity; below threshold → labelled as 'Unknown'.</a:t>
            </a:r>
          </a:p>
          <a:p>
            <a:r>
              <a:rPr lang="en-US" dirty="0" sz="1800" b="1"/>
              <a:t>Output
Annotated video feed (name, confidence %, gait label) + recognition_log.csv with timestamps.</a:t>
            </a:r>
          </a:p>
        </p:txBody>
      </p:sp>
    </p:spTree>
    <p:extLst>
      <p:ext uri="{BB962C8B-B14F-4D97-AF65-F5344CB8AC3E}">
        <p14:creationId xmlns:p14="http://schemas.microsoft.com/office/powerpoint/2010/main" val="1835256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Snapshots of human gait and face detection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Computer Application, SMIT, Majhitar, East Sikkim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76400"/>
            <a:ext cx="441960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676400"/>
            <a:ext cx="39624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467D6F-CC2C-299C-7AF7-03892B9809D4}"/>
              </a:ext>
            </a:extLst>
          </p:cNvPr>
          <p:cNvSpPr txBox="1"/>
          <p:nvPr/>
        </p:nvSpPr>
        <p:spPr>
          <a:xfrm>
            <a:off x="2454802" y="5410199"/>
            <a:ext cx="4502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 4: Screen shot of  Human Gait and Face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datacollection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973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62B0-FE3E-87DE-9180-8AC286C4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Data Preprocessing 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61473-95C3-7163-E46D-B77B0218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Computer Application, SMIT, Majhitar, East Sikkim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24291-5A64-B46A-AE0E-221AC777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76DD9B-CE03-F6A2-C6C5-DCBB602FB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20" y="1325959"/>
            <a:ext cx="2895600" cy="3291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BBCA94-484A-675B-7F8F-915A2E51C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325959"/>
            <a:ext cx="2781299" cy="3291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743FE6-B9EC-3254-8CD9-729C9E8AEA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417" y="4800600"/>
            <a:ext cx="6781165" cy="144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5721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AFB1-9737-D92A-4262-59161E85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till date</a:t>
            </a:r>
            <a:br>
              <a:rPr lang="en-US" dirty="0"/>
            </a:br>
            <a:r>
              <a:rPr lang="en-US" dirty="0"/>
              <a:t>-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7455B-5DB0-8472-34C5-53A120DAE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84750"/>
          </a:xfrm>
        </p:spPr>
        <p:txBody>
          <a:bodyPr>
            <a:noAutofit/>
          </a:bodyPr>
          <a:lstStyle/>
          <a:p>
            <a:pPr lvl="0" algn="just"/>
            <a:r>
              <a:rPr lang="en-US" dirty="0" sz="2500" b="1"/>
              <a:t>Data Storing:  Images saved in dataset/known_faces/&lt;name&gt;/ — each sub-folder holds photos of one registered person.</a:t>
            </a:r>
          </a:p>
          <a:p>
            <a:r>
              <a:rPr lang="en-US" dirty="0" sz="2400" b="1"/>
              <a:t>Data Pre-processing:  Face crops resized to 112×112 BGR; normalised before SFace CNN feature extraction.</a:t>
            </a:r>
          </a:p>
          <a:p>
            <a:r>
              <a:rPr lang="en-US" dirty="0" sz="2400" b="1"/>
              <a:t>Gait Recognition:</a:t>
            </a:r>
          </a:p>
          <a:p>
            <a:r>
              <a:rPr lang="en-US" dirty="0" sz="2400"/>
              <a:t>Implemented MOG2 background subtraction (cv2.createBackgroundSubtractorMOG2) for moving-person isolation.</a:t>
            </a:r>
          </a:p>
          <a:p>
            <a:r>
              <a:rPr lang="en-US" dirty="0" sz="2400"/>
              <a:t>Each detected person assigned a track ID; centroid positions recorded over 30 consecutive frames.</a:t>
            </a:r>
          </a:p>
          <a:p>
            <a:r>
              <a:rPr lang="en-US" dirty="0" sz="2400"/>
              <a:t>Average pixel displacement per frame used for classification:  Standing / Walking / Running.</a:t>
            </a:r>
          </a:p>
          <a:p>
            <a:r>
              <a:rPr lang="en-US" dirty="0" sz="2400"/>
              <a:t>Gait label + confidence score (%) overlaid as orange bounding box on the live video feed.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6734E2-F830-29D8-4885-EDDC4AD85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Computer Application, SMIT, Majhitar, East Sikkim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C45D9-0CD3-6075-D4BA-9F6CFC080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42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endParaRPr lang="en-IN" dirty="0"/>
            <a:r>
              <a:rPr lang="en-US" dirty="0" sz="2400" b="1"/>
              <a:t>Face Recognition:</a:t>
            </a:r>
          </a:p>
          <a:p>
            <a:r>
              <a:rPr lang="en-US" dirty="0" sz="2400"/>
              <a:t>Face detection implemented using YuNet CNN (cv2.FaceDetectorYN) — ONNX model (~230 KB) auto-downloaded on first run.</a:t>
            </a:r>
          </a:p>
          <a:p>
            <a:r>
              <a:rPr lang="en-US" dirty="0" sz="2400"/>
              <a:t>Face recognition implemented using SFace CNN (cv2.FaceRecognizerSF) — ONNX model (~37 MB) auto-downloaded on first run.</a:t>
            </a:r>
          </a:p>
          <a:p>
            <a:r>
              <a:rPr lang="en-US" dirty="0" sz="2400"/>
              <a:t>Registration: single photo captured → SFace CNN extracts 128-dim embedding → stored instantly (no model retraining).</a:t>
            </a:r>
          </a:p>
          <a:p>
            <a:r>
              <a:rPr lang="en-US" dirty="0" sz="2400"/>
              <a:t>Recognition: cosine similarity between query embedding and stored embeddings; threshold = 0.363 for known / unknown.</a:t>
            </a:r>
          </a:p>
          <a:p>
            <a:r>
              <a:rPr lang="en-US" dirty="0" sz="2400"/>
              <a:t>Achieved ~88–93% face recognition accuracy and ~90% gait classification rate at 15–25 FPS on standard laptop CPU.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Computer Application, SMIT, Majhitar, East Sikkim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61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1C2C-07B4-7BA5-D7E7-BE310026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Result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ADCF5-1206-76D2-C77C-DF7B2C08D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z="1800"/>
              <a:t>Input:  Live video frames from USB webcam (720p) processed in background thread.</a:t>
            </a:r>
          </a:p>
          <a:p>
            <a:r>
              <a:rPr lang="en-US" dirty="0" sz="1800"/>
              <a:t>Processing:  YuNet CNN detection + SFace CNN recognition + MOG2 gait extraction (parallel).</a:t>
            </a:r>
          </a:p>
          <a:p>
            <a:r>
              <a:rPr lang="en-US" dirty="0" sz="1800"/>
              <a:t>Evaluation:  measure_accuracy.py — LOOCV, augmentation robustness test, Unknown rejection rate.</a:t>
            </a:r>
          </a:p>
          <a:p>
            <a:r>
              <a:rPr lang="en-US" dirty="0" sz="1800" b="1"/>
              <a:t>Evaluation Metrics:</a:t>
            </a:r>
          </a:p>
          <a:p>
            <a:r>
              <a:rPr lang="en-US" dirty="0" sz="1800"/>
              <a:t>Accuracy  —  Face: ~88–93%   |   Gait classification: ~90%</a:t>
            </a:r>
          </a:p>
          <a:p>
            <a:r>
              <a:rPr lang="en-US" dirty="0" sz="1800"/>
              <a:t>FAR (False Acceptance Rate)  —  cosine threshold 0.363 keeps FAR at ~4–7%</a:t>
            </a:r>
          </a:p>
          <a:p>
            <a:r>
              <a:rPr lang="en-US" dirty="0" sz="1800"/>
              <a:t>FRR (False Rejection Rate)  —  well-lit frontal faces: FRR ~7–12%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CCAA80-CEBB-29CB-1A2F-346C878D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Computer Application, SMIT, Majhitar, East Sikkim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F6EF4-D324-E7A8-0E21-DF62C360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C602D64-9C49-59CC-0BB9-C06975E2F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04567"/>
              </p:ext>
            </p:extLst>
          </p:nvPr>
        </p:nvGraphicFramePr>
        <p:xfrm>
          <a:off x="1603375" y="4191000"/>
          <a:ext cx="5937250" cy="18287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3995">
                  <a:extLst>
                    <a:ext uri="{9D8B030D-6E8A-4147-A177-3AD203B41FA5}">
                      <a16:colId xmlns:a16="http://schemas.microsoft.com/office/drawing/2014/main" val="4130248845"/>
                    </a:ext>
                  </a:extLst>
                </a:gridCol>
                <a:gridCol w="1483995">
                  <a:extLst>
                    <a:ext uri="{9D8B030D-6E8A-4147-A177-3AD203B41FA5}">
                      <a16:colId xmlns:a16="http://schemas.microsoft.com/office/drawing/2014/main" val="1948705512"/>
                    </a:ext>
                  </a:extLst>
                </a:gridCol>
                <a:gridCol w="1484630">
                  <a:extLst>
                    <a:ext uri="{9D8B030D-6E8A-4147-A177-3AD203B41FA5}">
                      <a16:colId xmlns:a16="http://schemas.microsoft.com/office/drawing/2014/main" val="80449984"/>
                    </a:ext>
                  </a:extLst>
                </a:gridCol>
                <a:gridCol w="1484630">
                  <a:extLst>
                    <a:ext uri="{9D8B030D-6E8A-4147-A177-3AD203B41FA5}">
                      <a16:colId xmlns:a16="http://schemas.microsoft.com/office/drawing/2014/main" val="2249888697"/>
                    </a:ext>
                  </a:extLst>
                </a:gridCol>
              </a:tblGrid>
              <a:tr h="2935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1"/>
                        <a:t>Method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1"/>
                        <a:t>Accuracy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1"/>
                        <a:t>FAR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1"/>
                        <a:t>FRR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31955283"/>
                  </a:ext>
                </a:extLst>
              </a:tr>
              <a:tr h="6208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0"/>
                        <a:t>Face Recognition Only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0"/>
                        <a:t>~89%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0"/>
                        <a:t>~7%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0"/>
                        <a:t>~11%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3792633"/>
                  </a:ext>
                </a:extLst>
              </a:tr>
              <a:tr h="6208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0"/>
                        <a:t>Gait Recognition Only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0"/>
                        <a:t>~82%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0"/>
                        <a:t>~9%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0"/>
                        <a:t>~12%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6591637"/>
                  </a:ext>
                </a:extLst>
              </a:tr>
              <a:tr h="2935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0"/>
                        <a:t>Multi-Modal System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0"/>
                        <a:t>~93%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0"/>
                        <a:t>~4%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  <a:r>
                        <a:rPr lang="en-US" dirty="0" sz="1100" b="0"/>
                        <a:t>~6%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9563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152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2C1A0-2712-F982-E70D-A91959FC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BA530-9138-9724-D1BC-7304A69AE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Deep learning–based integration of face and gait recognition provides an effective real-time surveillance solution.</a:t>
            </a:r>
          </a:p>
          <a:p>
            <a:r>
              <a:rPr lang="en-US" dirty="0"/>
              <a:t>Overcomes limitations of single-modality face recognition in poor lighting, occlusions, and appearance changes.</a:t>
            </a:r>
          </a:p>
          <a:p>
            <a:r>
              <a:rPr lang="en-US" dirty="0"/>
              <a:t>CNN-based recognition (YuNet + SFace) achieves 88–93% accuracy, outperforming classical LBPH approach.</a:t>
            </a:r>
          </a:p>
          <a:p>
            <a:r>
              <a:rPr lang="en-US" dirty="0"/>
              <a:t>Gait analysis (MOG2) correctly classifies standing, walking, and running at approximately 90% rate.</a:t>
            </a:r>
          </a:p>
          <a:p>
            <a:r>
              <a:rPr lang="en-US" dirty="0"/>
              <a:t>One-shot face registration with instant embedding storage makes the system practical without large datasets.</a:t>
            </a:r>
          </a:p>
          <a:p>
            <a:r>
              <a:rPr lang="en-US" dirty="0"/>
              <a:t>Runs at 15–25 FPS on standard laptop CPU — no GPU, cloud service, or internet dependency required.</a:t>
            </a:r>
          </a:p>
          <a:p>
            <a:r>
              <a:rPr lang="en-US" dirty="0"/>
              <a:t>Represents significant progress toward intelligent, multi-modal, next-generation surveillance systems.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F155D-7E38-2D0D-5850-8CA253841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FB537-1283-FC11-1321-13F98189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763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References &amp; 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Pundir, A., &amp; Sharma, M. (2023). A Review of Deep Learning Approaches for Human Gait Recognition. INOCON 2023, IEEE.</a:t>
            </a:r>
          </a:p>
          <a:p>
            <a:r>
              <a:rPr lang="en-US" dirty="0"/>
              <a:t/>
            </a:r>
          </a:p>
          <a:p>
            <a:r>
              <a:rPr lang="en-US" dirty="0"/>
              <a:t>Sepas-Moghaddam, A., &amp; Etemad, A. (2022). Deep Gait Recognition: A Survey. IEEE TPAMI, 45(1), 264–284.</a:t>
            </a:r>
          </a:p>
          <a:p>
            <a:r>
              <a:rPr lang="en-US" dirty="0"/>
              <a:t/>
            </a:r>
          </a:p>
          <a:p>
            <a:r>
              <a:rPr lang="en-US" dirty="0"/>
              <a:t>Sheng, Y. et al. (2021). YuNet: A Tiny Millisecond-level Face Detector. IEEE Trans. Biometrics, Behavior, and Identity Science.</a:t>
            </a:r>
          </a:p>
          <a:p>
            <a:r>
              <a:rPr lang="en-US" dirty="0"/>
              <a:t/>
            </a:r>
          </a:p>
          <a:p>
            <a:r>
              <a:rPr lang="en-US" dirty="0"/>
              <a:t>Wang, F. et al. (2021). SFace: Sigmoid-Constrained Hypersphere Loss for Face Recognition. IEEE Trans. Image Processing.</a:t>
            </a:r>
          </a:p>
          <a:p>
            <a:r>
              <a:rPr lang="en-US" dirty="0"/>
              <a:t/>
            </a:r>
          </a:p>
          <a:p>
            <a:r>
              <a:rPr lang="en-US" dirty="0"/>
              <a:t>Lal, A., &amp; Nithyakani, P. (2023). Gait Speed Based Individual Recognition using Deep 2-D CNN. ICCCI 2023, IEEE.</a:t>
            </a:r>
          </a:p>
          <a:p>
            <a:r>
              <a:rPr lang="en-US" dirty="0"/>
              <a:t/>
            </a:r>
          </a:p>
          <a:p>
            <a:r>
              <a:rPr lang="en-US" dirty="0"/>
              <a:t>OpenCV Documentation — https://docs.opencv.org/  |  opencv/opencv_zoo (YuNet &amp; SFace ONNX models).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371600" y="6492875"/>
            <a:ext cx="6553200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Dept. of Computer Application, SMIT, Majhitar, East Sikkim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96036-530A-A1EC-37F6-4F6E2FCA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Computer Application, SMIT, Majhitar, East Sikkim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E321E-63EF-12F5-B12B-D579FB7C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A61BE-1BA4-41D7-975A-BF538DEFEF9C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2050" name="Picture 2" descr="Thank You So Much&quot; Images – Browse 345 Stock Photos, Vectors, and Video | 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168" y="1752600"/>
            <a:ext cx="600075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661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670</TotalTime>
  <Words>2262</Words>
  <Application>Microsoft Office PowerPoint</Application>
  <PresentationFormat>On-screen Show (4:3)</PresentationFormat>
  <Paragraphs>333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Office Theme</vt:lpstr>
      <vt:lpstr>Major Project Progress II Presentation on  Deep Learning Approaches For Face &amp; Gait Recognition</vt:lpstr>
      <vt:lpstr>Content</vt:lpstr>
      <vt:lpstr>Introduction</vt:lpstr>
      <vt:lpstr>General Overview Of The Problem </vt:lpstr>
      <vt:lpstr>Aim and Objectives</vt:lpstr>
      <vt:lpstr>PowerPoint Presentation</vt:lpstr>
      <vt:lpstr>Feasibility study</vt:lpstr>
      <vt:lpstr>PowerPoint Presentation</vt:lpstr>
      <vt:lpstr>PowerPoint Presentation</vt:lpstr>
      <vt:lpstr>Literature Survey</vt:lpstr>
      <vt:lpstr>PowerPoint Presentation</vt:lpstr>
      <vt:lpstr>Problem Definition</vt:lpstr>
      <vt:lpstr>Proposed Solution Strategy</vt:lpstr>
      <vt:lpstr>PowerPoint Presentation</vt:lpstr>
      <vt:lpstr>Project Plan</vt:lpstr>
      <vt:lpstr>Gantt Chart</vt:lpstr>
      <vt:lpstr>Architecture Diagram</vt:lpstr>
      <vt:lpstr>PowerPoint Presentation</vt:lpstr>
      <vt:lpstr>Data processing workflow</vt:lpstr>
      <vt:lpstr>Data processing workflow</vt:lpstr>
      <vt:lpstr>Snapshots of human gait and face detection</vt:lpstr>
      <vt:lpstr>Data Preprocessing :</vt:lpstr>
      <vt:lpstr>Progress till date -progress summary</vt:lpstr>
      <vt:lpstr>PowerPoint Presentation</vt:lpstr>
      <vt:lpstr>Result and Discussion</vt:lpstr>
      <vt:lpstr>Conclusion</vt:lpstr>
      <vt:lpstr>References &amp; Bibliography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Mini-Project Progress Presentation on  “ Title of the Project”</dc:title>
  <dc:creator>Bishal</dc:creator>
  <cp:lastModifiedBy>pragesh pradhan</cp:lastModifiedBy>
  <cp:revision>52</cp:revision>
  <dcterms:created xsi:type="dcterms:W3CDTF">2014-10-10T08:08:05Z</dcterms:created>
  <dcterms:modified xsi:type="dcterms:W3CDTF">2026-05-20T07:11:22Z</dcterms:modified>
</cp:coreProperties>
</file>