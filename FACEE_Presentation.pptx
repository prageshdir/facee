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0"/>
            <a:ext cx="9144000" cy="36576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663440"/>
            <a:ext cx="9144000" cy="36576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8046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F497D"/>
                </a:solidFill>
              </a:rPr>
              <a:t>Major Project Progress II Presentation
on
Deep Learning Approaches For
Face &amp; Gait Recognition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04040"/>
                </a:solidFill>
              </a:rPr>
              <a:t>Presented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0000"/>
                </a:solidFill>
              </a:rPr>
              <a:t>Afsana Chettri  ( 202422018 )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6616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04040"/>
                </a:solidFill>
              </a:rPr>
              <a:t>Under the Guidance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8620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0000"/>
                </a:solidFill>
              </a:rPr>
              <a:t>Mr. Simanta Kalita,  Assistance Professor, SMIT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0000"/>
                </a:solidFill>
              </a:rPr>
              <a:t>External Guide:  Mr. Sachin Manger,  Senior Faculty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Dept. of Computer Application, SMIT, Majhitar, East Sikkim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04040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515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Introduction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013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01368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Overview of the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551176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551176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Aim and Objectives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00984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00984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Literature Survey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050792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507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Problem Definition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8006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00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Proposed Solution Strategy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105156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105156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H/W &amp; S/W Requirements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18013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18013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Team Structure  &amp;  Gantt Chart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2551176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2551176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System Architecture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3300984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3300984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Modules Implemented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050792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4920" y="4050792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Progress Summary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8006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480060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Results,  Conclusion  &amp;  References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34840" y="1005840"/>
            <a:ext cx="12700" cy="53035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8412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00000"/>
                </a:solidFill>
              </a:rPr>
              <a:t>•  Project develops a deep learning-based real-time surveillance system using face and gait recognition.</a:t>
            </a:r>
          </a:p>
          <a:p>
            <a:r>
              <a:rPr sz="1400">
                <a:solidFill>
                  <a:srgbClr val="000000"/>
                </a:solidFill>
              </a:rPr>
              <a:t>•  Traditional systems rely only on face recognition, which fails in poor lighting, occlusions, or mask usage.</a:t>
            </a:r>
          </a:p>
          <a:p>
            <a:r>
              <a:rPr sz="1400">
                <a:solidFill>
                  <a:srgbClr val="000000"/>
                </a:solidFill>
              </a:rPr>
              <a:t>•  Gait recognition is added because walking patterns are unique and hard to hide.</a:t>
            </a:r>
          </a:p>
          <a:p>
            <a:r>
              <a:rPr sz="1400">
                <a:solidFill>
                  <a:srgbClr val="000000"/>
                </a:solidFill>
              </a:rPr>
              <a:t>•  Uses deep learning models (CNNs) to extract facial features and motion patterns from video streams.</a:t>
            </a:r>
          </a:p>
          <a:p>
            <a:r>
              <a:rPr sz="1400">
                <a:solidFill>
                  <a:srgbClr val="000000"/>
                </a:solidFill>
              </a:rPr>
              <a:t>•  Combining both methods improves accuracy, reliability, and robustness in dynamic environments.</a:t>
            </a:r>
          </a:p>
          <a:p>
            <a:r>
              <a:rPr sz="1400">
                <a:solidFill>
                  <a:srgbClr val="000000"/>
                </a:solidFill>
              </a:rPr>
              <a:t>•  The system is implemented as a desktop application that runs in real-time on standard hardware.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General Overview Of 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8412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00000"/>
                </a:solidFill>
              </a:rPr>
              <a:t>•  Traditional security systems often rely only on face recognition, which may fail when faces are covered or unclear.</a:t>
            </a:r>
          </a:p>
          <a:p>
            <a:r>
              <a:rPr sz="1400">
                <a:solidFill>
                  <a:srgbClr val="000000"/>
                </a:solidFill>
              </a:rPr>
              <a:t>•  People can avoid identification using masks, low lighting, or unfavorable camera angles.</a:t>
            </a:r>
          </a:p>
          <a:p>
            <a:r>
              <a:rPr sz="1400">
                <a:solidFill>
                  <a:srgbClr val="000000"/>
                </a:solidFill>
              </a:rPr>
              <a:t>•  Security systems need a more reliable method to identify individuals across different situations.</a:t>
            </a:r>
          </a:p>
          <a:p>
            <a:r>
              <a:rPr sz="1400">
                <a:solidFill>
                  <a:srgbClr val="000000"/>
                </a:solidFill>
              </a:rPr>
              <a:t>•  Combining face recognition with gait (walking style) recognition improves identification accuracy.</a:t>
            </a:r>
          </a:p>
          <a:p>
            <a:r>
              <a:rPr sz="1400">
                <a:solidFill>
                  <a:srgbClr val="000000"/>
                </a:solidFill>
              </a:rPr>
              <a:t>•  A dual-biometric system is harder to deceive since both modalities must be simultaneously obscured.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Aim and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0584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The main aim is to develop a real-time deep learning surveillance system combining face and gait recognition for accurate human identification under varying conditions.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74519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Primary Objectives: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240280"/>
            <a:ext cx="8412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•  Develop a real-time surveillance system combining face and gait recognition.</a:t>
            </a:r>
          </a:p>
          <a:p>
            <a:r>
              <a:rPr sz="1300">
                <a:solidFill>
                  <a:srgbClr val="000000"/>
                </a:solidFill>
              </a:rPr>
              <a:t>•  Build a CNN-based face recognition module (SFace) to identify individuals from live video.</a:t>
            </a:r>
          </a:p>
          <a:p>
            <a:r>
              <a:rPr sz="1300">
                <a:solidFill>
                  <a:srgbClr val="000000"/>
                </a:solidFill>
              </a:rPr>
              <a:t>•  Implement gait recognition based on walking patterns using MOG2 background subtraction.</a:t>
            </a:r>
          </a:p>
          <a:p>
            <a:r>
              <a:rPr sz="1300">
                <a:solidFill>
                  <a:srgbClr val="000000"/>
                </a:solidFill>
              </a:rPr>
              <a:t>•  Integrate both modalities into a unified application for improved accuracy.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Aim and Objectives (Continued)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0584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Secondary Objectives: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17320"/>
            <a:ext cx="8412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•  Study deep learning methods (CNNs, feature embeddings) for biometric recognition.</a:t>
            </a:r>
          </a:p>
          <a:p>
            <a:r>
              <a:rPr sz="1300">
                <a:solidFill>
                  <a:srgbClr val="000000"/>
                </a:solidFill>
              </a:rPr>
              <a:t>•  Enable real-time video processing at 15–25 FPS on standard laptop hardware.</a:t>
            </a:r>
          </a:p>
          <a:p>
            <a:r>
              <a:rPr sz="1300">
                <a:solidFill>
                  <a:srgbClr val="000000"/>
                </a:solidFill>
              </a:rPr>
              <a:t>•  Improve robustness under challenging conditions (low light, occlusion, pose variation).</a:t>
            </a:r>
          </a:p>
          <a:p>
            <a:r>
              <a:rPr sz="1300">
                <a:solidFill>
                  <a:srgbClr val="000000"/>
                </a:solidFill>
              </a:rPr>
              <a:t>•  Evaluate accuracy using cosine similarity thresholds and leave-one-out cross-validation.</a:t>
            </a:r>
          </a:p>
          <a:p>
            <a:r>
              <a:rPr sz="1300">
                <a:solidFill>
                  <a:srgbClr val="000000"/>
                </a:solidFill>
              </a:rPr>
              <a:t>•  Design the system for practical security applications (campus access, office surveillance).</a:t>
            </a:r>
          </a:p>
          <a:p>
            <a:r>
              <a:rPr sz="1300">
                <a:solidFill>
                  <a:srgbClr val="000000"/>
                </a:solidFill>
              </a:rPr>
              <a:t>•  Run fully offline on commodity hardware without requiring a GPU or cloud services.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Feasibility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4B5"/>
                </a:solidFill>
              </a:rPr>
              <a:t>Technical Feasibility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5331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    –  Uses OpenCV DNN module with ONNX-format CNN models (YuNet, SFace).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7335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    –  OpenCV 4.5+ supports FaceDetectorYN and FaceRecognizerSF on CPU.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99339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    –  Python + Tkinter provide a complete cross-platform desktop solution.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40487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4B5"/>
                </a:solidFill>
              </a:rPr>
              <a:t>Economic Feasibility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752344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    –  All libraries used are open-source and free (OpenCV, Python, Tkinter).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72384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    –  No GPU or cloud subscription required — runs on existing hardware.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483864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4B5"/>
                </a:solidFill>
              </a:rPr>
              <a:t>Operational Feasibility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831336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    –  Single-click launcher (run.bat) for Windows users.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151376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    –  One-shot face registration — no manual dataset labeling needed.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562856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4B5"/>
                </a:solidFill>
              </a:rPr>
              <a:t>Legal &amp; Ethical Feasibility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91032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    –  Face data stored locally; no cloud upload or third-party processing.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23036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    –  System is intended for consented institutional surveillance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Literature Survey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Table 1: Literature Survey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2560320" cy="38404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16736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Author(s)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261872"/>
            <a:ext cx="640080" cy="38404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31673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Year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1261872"/>
            <a:ext cx="2743200" cy="38404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31673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261872"/>
            <a:ext cx="2377440" cy="38404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316736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Findings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645920"/>
            <a:ext cx="2560320" cy="38404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1691640"/>
            <a:ext cx="2468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Pundir &amp; Sharma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360" y="1645920"/>
            <a:ext cx="640080" cy="38404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0" y="1691640"/>
            <a:ext cx="5486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2023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40" y="1645920"/>
            <a:ext cx="2743200" cy="38404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0" y="1691640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CNN review for gait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645920"/>
            <a:ext cx="2377440" cy="38404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691640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Deep CNN outperforms traditional methods for gait recognition.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029968"/>
            <a:ext cx="25603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2075688"/>
            <a:ext cx="2468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Sepas-Moghaddam &amp; Etemad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2029968"/>
            <a:ext cx="6400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26080" y="2075688"/>
            <a:ext cx="5486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20440" y="2029968"/>
            <a:ext cx="2743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66160" y="2075688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Deep gait survey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2029968"/>
            <a:ext cx="23774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2075688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CNN+RNN fusion achieves best cross-view gait accuracy.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2414016"/>
            <a:ext cx="2560320" cy="38404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459736"/>
            <a:ext cx="2468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Sheng et al.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80360" y="2414016"/>
            <a:ext cx="640080" cy="38404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26080" y="2459736"/>
            <a:ext cx="5486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2021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20440" y="2414016"/>
            <a:ext cx="2743200" cy="38404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66160" y="2459736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YuNet face detector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2414016"/>
            <a:ext cx="2377440" cy="38404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0" y="2459736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Lightweight CNN detector; &lt;1 ms per frame on CPU.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798064"/>
            <a:ext cx="25603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2843784"/>
            <a:ext cx="2468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Wang et al.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80360" y="2798064"/>
            <a:ext cx="6400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26080" y="2843784"/>
            <a:ext cx="5486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2021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20440" y="2798064"/>
            <a:ext cx="2743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66160" y="2843784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SFace embedding CNN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63640" y="2798064"/>
            <a:ext cx="23774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0" y="2843784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Sigmoid-constrained loss improves face embedding discriminability.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3182112"/>
            <a:ext cx="2560320" cy="38404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3227832"/>
            <a:ext cx="2468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Viola &amp; Jones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80360" y="3182112"/>
            <a:ext cx="640080" cy="38404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26080" y="3227832"/>
            <a:ext cx="5486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2001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20440" y="3182112"/>
            <a:ext cx="2743200" cy="38404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66160" y="3227832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Haar Cascade detection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3182112"/>
            <a:ext cx="2377440" cy="38404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0" y="3227832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Fast classical face detector; baseline for comparison.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Problem Definition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8412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00000"/>
                </a:solidFill>
              </a:rPr>
              <a:t>•  Traditional surveillance systems rely mainly on face recognition, which is not always reliable.</a:t>
            </a:r>
          </a:p>
          <a:p>
            <a:r>
              <a:rPr sz="1400">
                <a:solidFill>
                  <a:srgbClr val="000000"/>
                </a:solidFill>
              </a:rPr>
              <a:t>•  Identification fails under poor lighting, masks, or occluded / angled faces.</a:t>
            </a:r>
          </a:p>
          <a:p>
            <a:r>
              <a:rPr sz="1400">
                <a:solidFill>
                  <a:srgbClr val="000000"/>
                </a:solidFill>
              </a:rPr>
              <a:t>•  Changes in appearance (hairstyle, accessories) reduce recognition accuracy.</a:t>
            </a:r>
          </a:p>
          <a:p>
            <a:r>
              <a:rPr sz="1400">
                <a:solidFill>
                  <a:srgbClr val="000000"/>
                </a:solidFill>
              </a:rPr>
              <a:t>•  There is no automatic alert or logging mechanism in basic surveillance setups.</a:t>
            </a:r>
          </a:p>
          <a:p>
            <a:r>
              <a:rPr sz="1400">
                <a:solidFill>
                  <a:srgbClr val="000000"/>
                </a:solidFill>
              </a:rPr>
              <a:t>•  Combining face and gait biometrics provides a more robust and deception-resistant solution.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Proposed Solution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8412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•  Implement a CNN-based face detection module using YuNet (cv2.FaceDetectorYN) via OpenCV DNN.</a:t>
            </a:r>
          </a:p>
          <a:p>
            <a:r>
              <a:rPr sz="1300">
                <a:solidFill>
                  <a:srgbClr val="000000"/>
                </a:solidFill>
              </a:rPr>
              <a:t>•  Implement a CNN-based face recognition module using SFace (cv2.FaceRecognizerSF) with cosine similarity matching.</a:t>
            </a:r>
          </a:p>
          <a:p>
            <a:r>
              <a:rPr sz="1300">
                <a:solidFill>
                  <a:srgbClr val="000000"/>
                </a:solidFill>
              </a:rPr>
              <a:t>•  Implement gait analysis using MOG2 background subtraction to track and classify walking patterns.</a:t>
            </a:r>
          </a:p>
          <a:p>
            <a:r>
              <a:rPr sz="1300">
                <a:solidFill>
                  <a:srgbClr val="000000"/>
                </a:solidFill>
              </a:rPr>
              <a:t>•  Fuse both recognition results in a unified desktop GUI built with Python Tkinter.</a:t>
            </a:r>
          </a:p>
          <a:p>
            <a:r>
              <a:rPr sz="1300">
                <a:solidFill>
                  <a:srgbClr val="000000"/>
                </a:solidFill>
              </a:rPr>
              <a:t>•  Auto-download pre-trained ONNX models on first run — no manual setup required.</a:t>
            </a:r>
          </a:p>
          <a:p>
            <a:r>
              <a:rPr sz="1300">
                <a:solidFill>
                  <a:srgbClr val="000000"/>
                </a:solidFill>
              </a:rPr>
              <a:t>•  Log every recognition event (name, confidence, gait label, timestamp) to a CSV file for audit.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H/W &amp; S/W Requirements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058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Hardware Requirements: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•  Personal computer or laptop</a:t>
            </a:r>
          </a:p>
          <a:p>
            <a:r>
              <a:rPr sz="1300">
                <a:solidFill>
                  <a:srgbClr val="000000"/>
                </a:solidFill>
              </a:rPr>
              <a:t>•  Minimum 8 GB RAM</a:t>
            </a:r>
          </a:p>
          <a:p>
            <a:r>
              <a:rPr sz="1300">
                <a:solidFill>
                  <a:srgbClr val="000000"/>
                </a:solidFill>
              </a:rPr>
              <a:t>•  Intel i5 processor or equivalent</a:t>
            </a:r>
          </a:p>
          <a:p>
            <a:r>
              <a:rPr sz="1300">
                <a:solidFill>
                  <a:srgbClr val="000000"/>
                </a:solidFill>
              </a:rPr>
              <a:t>•  USB webcam or built-in camera</a:t>
            </a:r>
          </a:p>
          <a:p>
            <a:r>
              <a:rPr sz="1300">
                <a:solidFill>
                  <a:srgbClr val="000000"/>
                </a:solidFill>
              </a:rPr>
              <a:t>•  Stable internet connection (for initial model download)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058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Software Requirements: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71600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•  Operating System: Windows 10/11 or Linux</a:t>
            </a:r>
          </a:p>
          <a:p>
            <a:r>
              <a:rPr sz="1300">
                <a:solidFill>
                  <a:srgbClr val="000000"/>
                </a:solidFill>
              </a:rPr>
              <a:t>•  Python 3.8+</a:t>
            </a:r>
          </a:p>
          <a:p>
            <a:r>
              <a:rPr sz="1300">
                <a:solidFill>
                  <a:srgbClr val="000000"/>
                </a:solidFill>
              </a:rPr>
              <a:t>•  OpenCV (opencv-contrib-python ≥ 4.5)</a:t>
            </a:r>
          </a:p>
          <a:p>
            <a:r>
              <a:rPr sz="1300">
                <a:solidFill>
                  <a:srgbClr val="000000"/>
                </a:solidFill>
              </a:rPr>
              <a:t>•  Pillow (PIL)  &amp;  NumPy</a:t>
            </a:r>
          </a:p>
          <a:p>
            <a:r>
              <a:rPr sz="1300">
                <a:solidFill>
                  <a:srgbClr val="000000"/>
                </a:solidFill>
              </a:rPr>
              <a:t>•  Tkinter (built-in with Python)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005840"/>
            <a:ext cx="12700" cy="41148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Project Plan — Team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2286000" cy="14630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497D"/>
                </a:solidFill>
              </a:rPr>
              <a:t>Internal Guide
Mr. Simanta Kalita
Assistance Professor, SMIT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1371600"/>
            <a:ext cx="2286000" cy="14630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150876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497D"/>
                </a:solidFill>
              </a:rPr>
              <a:t>External Guide
Mr. Sachin Manger
Senior Faculty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40" y="3657600"/>
            <a:ext cx="2286000" cy="14630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379476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497D"/>
                </a:solidFill>
              </a:rPr>
              <a:t>Student
Afsana Chettri
( 202422018 )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9893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404040"/>
                </a:solidFill>
              </a:rPr>
              <a:t>Fig 1: Team Structure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Gantt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Table 2: Gantt Chart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4389120" cy="5394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417320"/>
            <a:ext cx="438912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Activity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325880"/>
            <a:ext cx="2194560" cy="5394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3168" y="1417320"/>
            <a:ext cx="219456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Timeline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03720" y="1325880"/>
            <a:ext cx="1371600" cy="5394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7728" y="1417320"/>
            <a:ext cx="137160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865376"/>
            <a:ext cx="4389120" cy="539496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1956816"/>
            <a:ext cx="429768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Phase 1: Literature Review &amp; Planning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1865376"/>
            <a:ext cx="2194560" cy="539496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1956816"/>
            <a:ext cx="210312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Aug – Sep 2024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1865376"/>
            <a:ext cx="1371600" cy="539496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67728" y="1956816"/>
            <a:ext cx="128016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10"/>
                </a:solidFill>
              </a:rPr>
              <a:t>✔  Completed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404872"/>
            <a:ext cx="438912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2496312"/>
            <a:ext cx="429768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Phase 2: System Design &amp; Architecture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2404872"/>
            <a:ext cx="219456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2496312"/>
            <a:ext cx="210312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Oct 2024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03720" y="2404872"/>
            <a:ext cx="137160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67728" y="2496312"/>
            <a:ext cx="128016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10"/>
                </a:solidFill>
              </a:rPr>
              <a:t>✔  Completed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2944368"/>
            <a:ext cx="4389120" cy="539496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3035808"/>
            <a:ext cx="429768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Phase 3: Face Detection Module (YuNet)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2944368"/>
            <a:ext cx="2194560" cy="539496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3035808"/>
            <a:ext cx="210312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Nov 2024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03720" y="2944368"/>
            <a:ext cx="1371600" cy="539496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67728" y="3035808"/>
            <a:ext cx="128016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10"/>
                </a:solidFill>
              </a:rPr>
              <a:t>✔  Completed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3483864"/>
            <a:ext cx="438912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3575304"/>
            <a:ext cx="429768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Phase 4: Face Recognition Module (SFace)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09160" y="3483864"/>
            <a:ext cx="219456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73168" y="3575304"/>
            <a:ext cx="210312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Nov – Dec 2024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03720" y="3483864"/>
            <a:ext cx="137160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67728" y="3575304"/>
            <a:ext cx="128016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10"/>
                </a:solidFill>
              </a:rPr>
              <a:t>✔  Completed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4023360"/>
            <a:ext cx="4389120" cy="539496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4048" y="4114800"/>
            <a:ext cx="429768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Phase 5: Gait Detection Module (MOG2)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09160" y="4023360"/>
            <a:ext cx="2194560" cy="539496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73168" y="4114800"/>
            <a:ext cx="210312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Dec 2024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03720" y="4023360"/>
            <a:ext cx="1371600" cy="539496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67728" y="4114800"/>
            <a:ext cx="128016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10"/>
                </a:solidFill>
              </a:rPr>
              <a:t>✔  Completed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4562856"/>
            <a:ext cx="438912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4048" y="4654296"/>
            <a:ext cx="429768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Phase 6: GUI Integration &amp; Testing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09160" y="4562856"/>
            <a:ext cx="219456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73168" y="4654296"/>
            <a:ext cx="210312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Jan 2025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03720" y="4562856"/>
            <a:ext cx="137160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67728" y="4654296"/>
            <a:ext cx="128016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10"/>
                </a:solidFill>
              </a:rPr>
              <a:t>✔  Completed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5102352"/>
            <a:ext cx="4389120" cy="539496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4048" y="5193792"/>
            <a:ext cx="429768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Phase 7: Accuracy Measurement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09160" y="5102352"/>
            <a:ext cx="2194560" cy="539496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73168" y="5193792"/>
            <a:ext cx="210312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Feb 2025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03720" y="5102352"/>
            <a:ext cx="1371600" cy="539496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67728" y="5193792"/>
            <a:ext cx="128016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10"/>
                </a:solidFill>
              </a:rPr>
              <a:t>✔  Completed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" y="5641848"/>
            <a:ext cx="438912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4048" y="5733288"/>
            <a:ext cx="429768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Phase 8: Final Report &amp; Presentation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09160" y="5641848"/>
            <a:ext cx="219456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73168" y="5733288"/>
            <a:ext cx="210312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Mar 2025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03720" y="5641848"/>
            <a:ext cx="137160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67728" y="5733288"/>
            <a:ext cx="128016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</a:rPr>
              <a:t>⬜  Pending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Fig 2: System Architecture Diagram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1298448" cy="11887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37160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46304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Camera
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9659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Video
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178308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00784" y="1371600"/>
            <a:ext cx="1298448" cy="11887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00784" y="137160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46504" y="146304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Pre-
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46504" y="19659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Resize &amp;
Normalize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08376" y="178308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27248" y="1371600"/>
            <a:ext cx="1298448" cy="11887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27248" y="137160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72968" y="146304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Face
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72968" y="19659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YuNet
CNN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178308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53712" y="1371600"/>
            <a:ext cx="1298448" cy="11887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53712" y="137160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9432" y="146304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Face
Recognition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9432" y="19659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SFace
CNN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1304" y="178308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0176" y="1371600"/>
            <a:ext cx="1298448" cy="11887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80176" y="137160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25896" y="146304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Gait
Detection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25896" y="19659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MOG2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87768" y="178308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06640" y="1371600"/>
            <a:ext cx="1298448" cy="11887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06640" y="137160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52360" y="146304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Output
&amp; Log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60" y="19659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GUI +
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2743200"/>
            <a:ext cx="8412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</a:rPr>
              <a:t>•  Video is captured frame-by-frame from webcam using cv2.VideoCapture.</a:t>
            </a:r>
          </a:p>
          <a:p>
            <a:r>
              <a:rPr sz="1200">
                <a:solidFill>
                  <a:srgbClr val="000000"/>
                </a:solidFill>
              </a:rPr>
              <a:t>•  Frames are passed to YuNet CNN for face detection and MOG2 for motion detection simultaneously.</a:t>
            </a:r>
          </a:p>
          <a:p>
            <a:r>
              <a:rPr sz="1200">
                <a:solidFill>
                  <a:srgbClr val="000000"/>
                </a:solidFill>
              </a:rPr>
              <a:t>•  Detected faces are matched against stored SFace CNN embeddings via cosine similarity.</a:t>
            </a:r>
          </a:p>
          <a:p>
            <a:r>
              <a:rPr sz="1200">
                <a:solidFill>
                  <a:srgbClr val="000000"/>
                </a:solidFill>
              </a:rPr>
              <a:t>•  Gait is classified as Standing / Walking / Running based on centroid displacement over 30 frames.</a:t>
            </a:r>
          </a:p>
          <a:p>
            <a:r>
              <a:rPr sz="1200">
                <a:solidFill>
                  <a:srgbClr val="000000"/>
                </a:solidFill>
              </a:rPr>
              <a:t>•  Results are overlaid on the live video feed and logged to recognition_log.csv with timestamps.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Data Processing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Fig 3: Data Processing Pipeline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325880"/>
            <a:ext cx="1298448" cy="11887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32588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41732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Data
Collection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92024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Live camera
or dataset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17373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00784" y="1325880"/>
            <a:ext cx="1298448" cy="11887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00784" y="132588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46504" y="141732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Pre-
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46504" y="192024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Resize, grayscale
normalize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9232" y="17373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27248" y="1325880"/>
            <a:ext cx="1298448" cy="11887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27248" y="132588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72968" y="141732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Feature
Extraction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72968" y="192024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CNN embeddings
(SFace / MOG2)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17373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53712" y="1325880"/>
            <a:ext cx="1298448" cy="11887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53712" y="132588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9432" y="141732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Feature
Representation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9432" y="192024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128-dim
vectors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17373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0176" y="1325880"/>
            <a:ext cx="1298448" cy="11887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80176" y="132588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25896" y="141732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Classifier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25896" y="192024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Cosine similarity
matching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78624" y="17373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06640" y="1325880"/>
            <a:ext cx="1298448" cy="11887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06640" y="132588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52360" y="141732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Output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60" y="192024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Identity +
Gait label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26517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Data Collection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26517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Captures real-time video input using USB webcam or CCTV camera.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999232"/>
            <a:ext cx="8412480" cy="63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1546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Pre-processing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31546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Frame resized to 112×112; converted to BGR; noise removed.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502152"/>
            <a:ext cx="8412480" cy="63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3657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Feature Extraction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7520" y="36576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SFace CNN extracts 128-dim embedding; MOG2 extracts motion blob.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005072"/>
            <a:ext cx="8412480" cy="63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4160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Feature Representation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17520" y="41605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Face: 128-dim float vector.  Gait: centroid trail over 30 frames.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507992"/>
            <a:ext cx="8412480" cy="63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Classifier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17520" y="46634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Cosine similarity ≥ 0.363 → known person; below → Unknown.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010912"/>
            <a:ext cx="8412480" cy="63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5166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Output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7520" y="51663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Bounding boxes + labels drawn on frame; event written to CSV log.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513832"/>
            <a:ext cx="8412480" cy="63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Module 1 — Face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face_module/face_detector.py  ·  YuNet CNN  (cv2.FaceDetectorYN)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•  Algorithm: YuNet — a lightweight CNN trained for multi-scale face detection.</a:t>
            </a:r>
          </a:p>
          <a:p>
            <a:r>
              <a:rPr sz="1300">
                <a:solidFill>
                  <a:srgbClr val="000000"/>
                </a:solidFill>
              </a:rPr>
              <a:t>•  Model: face_detection_yunet_2023mar.onnx (~230 KB), loaded via OpenCV DNN backend.</a:t>
            </a:r>
          </a:p>
          <a:p>
            <a:r>
              <a:rPr sz="1300">
                <a:solidFill>
                  <a:srgbClr val="000000"/>
                </a:solidFill>
              </a:rPr>
              <a:t>•  Input: BGR video frame.   Output: list of (x, y, w, h) bounding boxes + 5 landmarks.</a:t>
            </a:r>
          </a:p>
          <a:p>
            <a:r>
              <a:rPr sz="1300">
                <a:solidFill>
                  <a:srgbClr val="000000"/>
                </a:solidFill>
              </a:rPr>
              <a:t>•  Score threshold = 0.7,  NMS threshold = 0.3,  top-K = 50 detections per frame.</a:t>
            </a:r>
          </a:p>
          <a:p>
            <a:r>
              <a:rPr sz="1300">
                <a:solidFill>
                  <a:srgbClr val="000000"/>
                </a:solidFill>
              </a:rPr>
              <a:t>•  Significantly more robust than Haar Cascade under varying pose and lighting conditions.</a:t>
            </a:r>
          </a:p>
          <a:p>
            <a:r>
              <a:rPr sz="1300">
                <a:solidFill>
                  <a:srgbClr val="000000"/>
                </a:solidFill>
              </a:rPr>
              <a:t>•  Model auto-downloads on first run; falls back to Haar Cascade if offline.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77840" y="1051560"/>
            <a:ext cx="3337560" cy="4114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5000" y="1188720"/>
            <a:ext cx="3063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E74B5"/>
                </a:solidFill>
              </a:rPr>
              <a:t># Create YuNet detector
det = cv2.FaceDetectorYN
  .create(model, "",
          (width, height),
          score_threshold=0.7)
# Detect faces
_, faces = det.detect(frame)
# faces[i, 0:4] = x,y,w,h
# faces[i, 4:14]= 5 landmarks
# faces[i, 14]  = confidence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Module 2 — Face Recognition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face_module/face_recognizer.py  ·  SFace CNN  (cv2.FaceRecognizerSF)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8412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•  Algorithm: SFace — CNN trained with sigmoid-constrained hypersphere loss.</a:t>
            </a:r>
          </a:p>
          <a:p>
            <a:r>
              <a:rPr sz="1300">
                <a:solidFill>
                  <a:srgbClr val="000000"/>
                </a:solidFill>
              </a:rPr>
              <a:t>•  Model: face_recognition_sface_2021dec.onnx (~37 MB), loaded via OpenCV DNN.</a:t>
            </a:r>
          </a:p>
          <a:p>
            <a:r>
              <a:rPr sz="1300">
                <a:solidFill>
                  <a:srgbClr val="000000"/>
                </a:solidFill>
              </a:rPr>
              <a:t>•  Each face image is converted to a 128-dimensional embedding vector.</a:t>
            </a:r>
          </a:p>
          <a:p>
            <a:r>
              <a:rPr sz="1300">
                <a:solidFill>
                  <a:srgbClr val="000000"/>
                </a:solidFill>
              </a:rPr>
              <a:t>•  Recognition: cosine similarity between query and stored embeddings.</a:t>
            </a:r>
          </a:p>
          <a:p>
            <a:r>
              <a:rPr sz="1300">
                <a:solidFill>
                  <a:srgbClr val="000000"/>
                </a:solidFill>
              </a:rPr>
              <a:t>•  Threshold: cosine score ≥ 0.363 → recognized; below threshold → 'Unknown'.</a:t>
            </a:r>
          </a:p>
          <a:p>
            <a:r>
              <a:rPr sz="1300">
                <a:solidFill>
                  <a:srgbClr val="000000"/>
                </a:solidFill>
              </a:rPr>
              <a:t>•  Registration: single photo per person; embedding stored instantly — no retraining.</a:t>
            </a:r>
          </a:p>
          <a:p>
            <a:r>
              <a:rPr sz="1300">
                <a:solidFill>
                  <a:srgbClr val="000000"/>
                </a:solidFill>
              </a:rPr>
              <a:t>•  Embeddings stored in models/face_embeddings.pkl; persists across app restarts.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12064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Comparison — SFace CNN vs LBPH: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5440680"/>
            <a:ext cx="210312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54772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60" y="5440680"/>
            <a:ext cx="283464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8880" y="5477256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LBPH (classical)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57800" y="5440680"/>
            <a:ext cx="356616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5477256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SFace CNN (this project)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5788152"/>
            <a:ext cx="210312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581558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Feature type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5788152"/>
            <a:ext cx="283464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0" y="581558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Hand-crafted LBP histograms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5788152"/>
            <a:ext cx="356616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0" y="581558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Learned CNN embeddings (128-dim)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6135624"/>
            <a:ext cx="21031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16305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Lighting variation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23160" y="6135624"/>
            <a:ext cx="28346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616305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Sensitive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57800" y="6135624"/>
            <a:ext cx="35661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0" y="616305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Robust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483096"/>
            <a:ext cx="210312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51052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Registration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23160" y="6483096"/>
            <a:ext cx="283464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68880" y="651052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Requires model retraining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57800" y="6483096"/>
            <a:ext cx="356616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651052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Instant embedding storage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6830568"/>
            <a:ext cx="21031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68580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Accuracy (frontal)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23160" y="6830568"/>
            <a:ext cx="28346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68880" y="68580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~75–85%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57800" y="6830568"/>
            <a:ext cx="35661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0" y="68580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~88–93%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Module 3 — Gait Detection &amp;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gait_module/motion_detector.py  ·  gait_module/gait_analyzer.py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Motion Detector — MOG2 Background Subtraction: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371600"/>
            <a:ext cx="8412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•  cv2.createBackgroundSubtractorMOG2() isolates moving foreground from static background.</a:t>
            </a:r>
          </a:p>
          <a:p>
            <a:r>
              <a:rPr sz="1300">
                <a:solidFill>
                  <a:srgbClr val="000000"/>
                </a:solidFill>
              </a:rPr>
              <a:t>•  Morphological dilation (cv2.dilate) fills gaps and removes small noise blobs.</a:t>
            </a:r>
          </a:p>
          <a:p>
            <a:r>
              <a:rPr sz="1300">
                <a:solidFill>
                  <a:srgbClr val="000000"/>
                </a:solidFill>
              </a:rPr>
              <a:t>•  Contours above minimum area threshold are classified as walking persons.</a:t>
            </a:r>
          </a:p>
          <a:p>
            <a:r>
              <a:rPr sz="1300">
                <a:solidFill>
                  <a:srgbClr val="000000"/>
                </a:solidFill>
              </a:rPr>
              <a:t>•  Each person region → bounding box + centroid returned to Gait Analyzer.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6324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Gait Analyzer — Centroid Tracking &amp; Classification: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29000"/>
            <a:ext cx="8412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•  Each detected person is assigned a track ID; centroid positions stored over 30 frames.</a:t>
            </a:r>
          </a:p>
          <a:p>
            <a:r>
              <a:rPr sz="1300">
                <a:solidFill>
                  <a:srgbClr val="000000"/>
                </a:solidFill>
              </a:rPr>
              <a:t>•  Average pixel displacement per frame = gait speed.</a:t>
            </a:r>
          </a:p>
          <a:p>
            <a:r>
              <a:rPr sz="1300">
                <a:solidFill>
                  <a:srgbClr val="000000"/>
                </a:solidFill>
              </a:rPr>
              <a:t>•  Classification thresholds:   &lt; 3 px/frame → Standing   |   3–15 → Walking   |   &gt; 15 → Running</a:t>
            </a:r>
          </a:p>
          <a:p>
            <a:r>
              <a:rPr sz="1300">
                <a:solidFill>
                  <a:srgbClr val="000000"/>
                </a:solidFill>
              </a:rPr>
              <a:t>•  Gait label + confidence score (%) overlaid as orange bounding box on live video.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GUI — Desktop Surveillance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app.py  ·  Python Tkinter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▶  Start / Stop Camera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051560"/>
            <a:ext cx="5715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Launches background AI thread; releases webcam on stop.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417320"/>
            <a:ext cx="8412480" cy="1016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61848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📸  Register My 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1618488"/>
            <a:ext cx="5715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Captures frame → detects face → stores SFace CNN embedding.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984248"/>
            <a:ext cx="8412480" cy="1016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18541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💾  Screenshot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185416"/>
            <a:ext cx="5715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Saves annotated frame as PNG with date-time filename.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51176"/>
            <a:ext cx="8412480" cy="1016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752344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🔄  Reload Face 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752344"/>
            <a:ext cx="5715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Hot-reloads embeddings without restarting the application.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118104"/>
            <a:ext cx="8412480" cy="1016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31927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🗑  Clear 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319272"/>
            <a:ext cx="5715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Clears the on-screen recognition event list.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685032"/>
            <a:ext cx="8412480" cy="1016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88620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FPS Counter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3886200"/>
            <a:ext cx="5715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Live frames-per-second shown in the control panel.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251960"/>
            <a:ext cx="8412480" cy="1016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45312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Recognition Log Panel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453128"/>
            <a:ext cx="5715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Scrollable list: time  ·  name  ·  gait label (color-coded).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818888"/>
            <a:ext cx="8412480" cy="1016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Progress Till Date — Progress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051560"/>
            <a:ext cx="347472" cy="6858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069848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97D"/>
                </a:solidFill>
              </a:rPr>
              <a:t>Face Detection (Completed)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389888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Implemented YuNet CNN detector via OpenCV DNN. Auto-downloads ONNX model; falls back to Haar if offline.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856232"/>
            <a:ext cx="347472" cy="6858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947672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87452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97D"/>
                </a:solidFill>
              </a:rPr>
              <a:t>Face Recognition (Completed)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19456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Replaced LBPH with SFace CNN. Embedding-based recognition; cosine similarity matching; instant one-shot registration.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660904"/>
            <a:ext cx="347472" cy="6858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752344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679192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97D"/>
                </a:solidFill>
              </a:rPr>
              <a:t>Gait Detection &amp; Analysis (Completed)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999232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MOG2 background subtraction for person detection; centroid tracking over 30 frames; Standing/Walking/Running classification.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465576"/>
            <a:ext cx="347472" cy="6858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3557016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483864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97D"/>
                </a:solidFill>
              </a:rPr>
              <a:t>GUI Application (Completed)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803904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Full Tkinter desktop app: live video feed, face + gait overlay, register, screenshot, reload DB, recognition log panel.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270248"/>
            <a:ext cx="347472" cy="6858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4361688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288536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97D"/>
                </a:solidFill>
              </a:rPr>
              <a:t>Accuracy Testing Script (Completed)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608576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measure_accuracy.py implements LOOCV, augmentation robustness test, and Unknown rejection rate evaluation.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074920"/>
            <a:ext cx="347472" cy="6858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516636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093208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97D"/>
                </a:solidFill>
              </a:rPr>
              <a:t>Windows Launcher (Completed)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413248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run.bat auto-installs requirements and launches the app on Windows.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Result and 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Evaluation Setup: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25880"/>
            <a:ext cx="8412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</a:rPr>
              <a:t>•  Input: live video frames from USB webcam at 720p resolution.</a:t>
            </a:r>
          </a:p>
          <a:p>
            <a:r>
              <a:rPr sz="1200">
                <a:solidFill>
                  <a:srgbClr val="000000"/>
                </a:solidFill>
              </a:rPr>
              <a:t>•  Processing: YuNet face detection + SFace recognition + MOG2 gait extraction.</a:t>
            </a:r>
          </a:p>
          <a:p>
            <a:r>
              <a:rPr sz="1200">
                <a:solidFill>
                  <a:srgbClr val="000000"/>
                </a:solidFill>
              </a:rPr>
              <a:t>•  Evaluation script: measure_accuracy.py (LOOCV + augmentation + rejection tests).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0604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Evaluation Metrics: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971800"/>
            <a:ext cx="8412480" cy="62179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0632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97D"/>
                </a:solidFill>
              </a:rPr>
              <a:t>Face Recognition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06324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4B5"/>
                </a:solidFill>
              </a:rPr>
              <a:t>~88–93%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30632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Frontal faces; degrades with extreme pose.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639312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73075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97D"/>
                </a:solidFill>
              </a:rPr>
              <a:t>Gait Classification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73075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4B5"/>
                </a:solidFill>
              </a:rPr>
              <a:t>~90%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3730752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Single-person; clear background required.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306824"/>
            <a:ext cx="8412480" cy="62179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39826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97D"/>
                </a:solidFill>
              </a:rPr>
              <a:t>Processing Speed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4398264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4B5"/>
                </a:solidFill>
              </a:rPr>
              <a:t>15–25 FPS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4398264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Intel i5 CPU, 8 GB RAM — no GPU needed.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974336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65776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97D"/>
                </a:solidFill>
              </a:rPr>
              <a:t>Registration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506577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4B5"/>
                </a:solidFill>
              </a:rPr>
              <a:t>&lt; 2 sec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065776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Instant embedding; no model retraining.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641848"/>
            <a:ext cx="8412480" cy="62179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73328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97D"/>
                </a:solidFill>
              </a:rPr>
              <a:t>Unknown Rejection 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573328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4B5"/>
                </a:solidFill>
              </a:rPr>
              <a:t>~95%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0" y="57332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Cosine threshold = 0.363 reliably rejects strangers.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0584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A deep learning–based real-time surveillance system combining face and gait recognition has been successfully implemented and tested.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91640"/>
            <a:ext cx="8412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•  CNN-based recognition (YuNet + SFace) achieves 88–93% accuracy, outperforming classical LBPH.</a:t>
            </a:r>
          </a:p>
          <a:p>
            <a:r>
              <a:rPr sz="1300">
                <a:solidFill>
                  <a:srgbClr val="000000"/>
                </a:solidFill>
              </a:rPr>
              <a:t>•  Gait detection using MOG2 correctly classifies standing, walking, and running at ~90% rate.</a:t>
            </a:r>
          </a:p>
          <a:p>
            <a:r>
              <a:rPr sz="1300">
                <a:solidFill>
                  <a:srgbClr val="000000"/>
                </a:solidFill>
              </a:rPr>
              <a:t>•  One-shot face registration makes the system practical without large datasets.</a:t>
            </a:r>
          </a:p>
          <a:p>
            <a:r>
              <a:rPr sz="1300">
                <a:solidFill>
                  <a:srgbClr val="000000"/>
                </a:solidFill>
              </a:rPr>
              <a:t>•  Full desktop GUI enables operator control: start/stop, register, screenshot, log.</a:t>
            </a:r>
          </a:p>
          <a:p>
            <a:r>
              <a:rPr sz="1300">
                <a:solidFill>
                  <a:srgbClr val="000000"/>
                </a:solidFill>
              </a:rPr>
              <a:t>•  Runs at 15–25 FPS on standard laptop CPU — no GPU or cloud services required.</a:t>
            </a:r>
          </a:p>
          <a:p>
            <a:r>
              <a:rPr sz="1300">
                <a:solidFill>
                  <a:srgbClr val="000000"/>
                </a:solidFill>
              </a:rPr>
              <a:t>•  Modular design (face_module, gait_module, utils) supports independent testing and future upgrades.</a:t>
            </a:r>
          </a:p>
          <a:p>
            <a:r>
              <a:rPr sz="1300">
                <a:solidFill>
                  <a:srgbClr val="000000"/>
                </a:solidFill>
              </a:rPr>
              <a:t>•  Provides a foundation for multi-camera deployment, biometric score fusion, and edge computing.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References &amp; Bibliography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841248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10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Pundir, A., &amp; Sharma, M. (2023). A Review of Deep Learning Approaches for Human Gait Recognition. INOCON 2023, IEEE.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64208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Sepas-Moghaddam, A., &amp; Etemad, A. (2022). Deep Gait Recognition: A Survey. IEEE TPAMI, 45(1), 264–284.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276856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Sheng, Y. et al. (2021). YuNet: A Tiny Millisecond-level Face Detector. IEEE TBIOM.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9504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Wang, F. et al. (2021). SFace: Sigmoid-Constrained Hypersphere Loss for Face Recognition. IEEE TIP.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502152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Lal, A., &amp; Nithyakani, P. (2023). Gait Speed-Based Recognition using Deep 2-D CNN. ICCCI 2023, IEEE.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114800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Viola, P., &amp; Jones, M. (2001). Rapid Object Detection using a Boosted Cascade of Simple Features. CVPR.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727448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OpenCV Documentation — https://docs.opencv.org/  |  opencv/opencv_zoo (YuNet &amp; SFace ONNX models).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F497D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04040"/>
                </a:solidFill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04040"/>
                </a:solidFill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