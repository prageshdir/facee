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5912" cy="4206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08760"/>
            <a:ext cx="10149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Deep Learning Based Face &amp; Gait
Recognition Using Surveillance Camera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520440"/>
            <a:ext cx="11274552" cy="254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61188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D166"/>
                </a:solidFill>
              </a:rPr>
              <a:t>MCA Major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0A0C0"/>
                </a:solidFill>
              </a:rPr>
              <a:t>OpenCV  ·  LBPH Face Recognition  ·  MOG2 Gait Detection  ·  Tkinter GUI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0A0C0"/>
                </a:solidFill>
              </a:rPr>
              <a:t>Presented by: [Your Name]   |   Guide: [Guide Name]   |   Department of MCA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Abstract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4552" cy="25400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2E2"/>
                </a:solidFill>
              </a:rPr>
              <a:t>Traditional surveillance systems rely on manual monitoring, making them slow, error-prone, and unscalable. This project presents an automated, real-time surveillance system that combines two powerful biometric modalities — face recognition and gait analysis — to identify individuals from live camera feeds without requiring any physical contact or active cooperation from the subject.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017520"/>
            <a:ext cx="3566160" cy="2011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3017520"/>
            <a:ext cx="54864" cy="2011680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09067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CCA3"/>
                </a:solidFill>
              </a:rPr>
              <a:t>🎯 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93008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2E2"/>
                </a:solidFill>
              </a:rPr>
              <a:t>Automate person identification in real-time CCTV footage.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3017520"/>
            <a:ext cx="3566160" cy="2011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79" y="3017520"/>
            <a:ext cx="54864" cy="201168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39" y="309067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166"/>
                </a:solidFill>
              </a:rPr>
              <a:t>🔬  Approach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39" y="3493008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2E2"/>
                </a:solidFill>
              </a:rPr>
              <a:t>Combine LBPH face recognition with MOG2 motion-based gait detection.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8" y="3017520"/>
            <a:ext cx="3566160" cy="20116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18" y="3017520"/>
            <a:ext cx="54864" cy="20116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78" y="309067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6B"/>
                </a:solidFill>
              </a:rPr>
              <a:t>📊 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8" y="3493008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2E2"/>
                </a:solidFill>
              </a:rPr>
              <a:t>Live annotated video feed + timestamped recognition log.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4552" cy="25400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E2E2E2"/>
                </a:solidFill>
              </a:rPr>
              <a:t>  •  Manual CCTV monitoring is labor-intensive and prone to human fatigue and error.</a:t>
            </a:r>
          </a:p>
          <a:p>
            <a:pPr algn="l"/>
            <a:r>
              <a:rPr sz="1700">
                <a:solidFill>
                  <a:srgbClr val="E2E2E2"/>
                </a:solidFill>
              </a:rPr>
              <a:t>  •  Existing systems use only one biometric (face or gait), which fails under poor lighting or occlusion.</a:t>
            </a:r>
          </a:p>
          <a:p>
            <a:pPr algn="l"/>
            <a:r>
              <a:rPr sz="1700">
                <a:solidFill>
                  <a:srgbClr val="E2E2E2"/>
                </a:solidFill>
              </a:rPr>
              <a:t>  •  Card/PIN-based access control can be shared or stolen — not tied to the individual.</a:t>
            </a:r>
          </a:p>
          <a:p>
            <a:pPr algn="l"/>
            <a:r>
              <a:rPr sz="1700">
                <a:solidFill>
                  <a:srgbClr val="E2E2E2"/>
                </a:solidFill>
              </a:rPr>
              <a:t>  •  No automatic alert or logging mechanism in basic surveillance setups.</a:t>
            </a:r>
          </a:p>
          <a:p>
            <a:pPr algn="l"/>
            <a:r>
              <a:rPr sz="1700">
                <a:solidFill>
                  <a:srgbClr val="E2E2E2"/>
                </a:solidFill>
              </a:rPr>
              <a:t>  •  Need for a non-invasive, contact-free identification system that works in real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4552" cy="25400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E2E2E2"/>
                </a:solidFill>
              </a:rPr>
              <a:t>  •  Detect and recognize human faces from live webcam/CCTV feed using LBPH algorithm.</a:t>
            </a:r>
          </a:p>
          <a:p>
            <a:pPr algn="l"/>
            <a:r>
              <a:rPr sz="1600">
                <a:solidFill>
                  <a:srgbClr val="E2E2E2"/>
                </a:solidFill>
              </a:rPr>
              <a:t>  •  Detect walking persons and analyze gait patterns using background subtraction (MOG2).</a:t>
            </a:r>
          </a:p>
          <a:p>
            <a:pPr algn="l"/>
            <a:r>
              <a:rPr sz="1600">
                <a:solidFill>
                  <a:srgbClr val="E2E2E2"/>
                </a:solidFill>
              </a:rPr>
              <a:t>  •  Register new individuals into the system without retraining — one-shot face capture.</a:t>
            </a:r>
          </a:p>
          <a:p>
            <a:pPr algn="l"/>
            <a:r>
              <a:rPr sz="1600">
                <a:solidFill>
                  <a:srgbClr val="E2E2E2"/>
                </a:solidFill>
              </a:rPr>
              <a:t>  •  Maintain a real-time timestamped log of every recognized person.</a:t>
            </a:r>
          </a:p>
          <a:p>
            <a:pPr algn="l"/>
            <a:r>
              <a:rPr sz="1600">
                <a:solidFill>
                  <a:srgbClr val="E2E2E2"/>
                </a:solidFill>
              </a:rPr>
              <a:t>  •  Provide a clean GUI for operators: start/stop camera, register faces, take screenshots.</a:t>
            </a:r>
          </a:p>
          <a:p>
            <a:pPr algn="l"/>
            <a:r>
              <a:rPr sz="1600">
                <a:solidFill>
                  <a:srgbClr val="E2E2E2"/>
                </a:solidFill>
              </a:rPr>
              <a:t>  •  Deliver a fully offline, dependency-light solution (no cloud, no deep-learning GPU required).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4552" cy="25400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1737360" cy="1645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371600"/>
            <a:ext cx="1737360" cy="54864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4632" y="146304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4ECCA3"/>
                </a:solidFill>
              </a:rPr>
              <a:t>Camera 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1874520"/>
            <a:ext cx="15910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2E2E2"/>
                </a:solidFill>
              </a:rPr>
              <a:t>Webcam / CCTV
OpenCV VideoCapture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85416" y="205740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0A0C0"/>
                </a:solidFill>
              </a:rPr>
              <a:t>▶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50008" y="1371600"/>
            <a:ext cx="1737360" cy="1645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50008" y="1371600"/>
            <a:ext cx="1737360" cy="54864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46304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166"/>
                </a:solidFill>
              </a:rPr>
              <a:t>Face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1874520"/>
            <a:ext cx="15910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2E2E2"/>
                </a:solidFill>
              </a:rPr>
              <a:t>Haar Cascade
Classifier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23944" y="205740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0A0C0"/>
                </a:solidFill>
              </a:rPr>
              <a:t>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88536" y="1371600"/>
            <a:ext cx="1737360" cy="1645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88536" y="1371600"/>
            <a:ext cx="1737360" cy="54864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61688" y="146304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4ECCA3"/>
                </a:solidFill>
              </a:rPr>
              <a:t>Face Recognition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1688" y="1874520"/>
            <a:ext cx="15910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2E2E2"/>
                </a:solidFill>
              </a:rPr>
              <a:t>LBPH Recognizer
(predict name + confidence)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62472" y="205740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0A0C0"/>
                </a:solidFill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27064" y="1371600"/>
            <a:ext cx="1737360" cy="1645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27064" y="1371600"/>
            <a:ext cx="1737360" cy="54864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46304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166"/>
                </a:solidFill>
              </a:rPr>
              <a:t>Gait Detection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874520"/>
            <a:ext cx="15910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2E2E2"/>
                </a:solidFill>
              </a:rPr>
              <a:t>MOG2 Background
Subtraction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205740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0A0C0"/>
                </a:solidFill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65592" y="1371600"/>
            <a:ext cx="1737360" cy="1645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65592" y="1371600"/>
            <a:ext cx="1737360" cy="54864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38744" y="146304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4ECCA3"/>
                </a:solidFill>
              </a:rPr>
              <a:t>Gait Analysis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8744" y="1874520"/>
            <a:ext cx="15910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2E2E2"/>
                </a:solidFill>
              </a:rPr>
              <a:t>Blob Tracking
(score + label)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39528" y="205740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0A0C0"/>
                </a:solidFill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04120" y="1371600"/>
            <a:ext cx="1737360" cy="1645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04120" y="1371600"/>
            <a:ext cx="1737360" cy="5486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77272" y="146304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6B6B"/>
                </a:solidFill>
              </a:rPr>
              <a:t>Output / Log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77272" y="1874520"/>
            <a:ext cx="15910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E2E2E2"/>
                </a:solidFill>
              </a:rPr>
              <a:t>Annotated Feed
+ CSV Logger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291840"/>
            <a:ext cx="11338560" cy="24688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3383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CCA3"/>
                </a:solidFill>
              </a:rPr>
              <a:t>Threading Model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3749039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E2E2E2"/>
                </a:solidFill>
              </a:rPr>
              <a:t>  •  Background Thread — camera loop runs face &amp; gait AI without blocking the UI.</a:t>
            </a:r>
          </a:p>
          <a:p>
            <a:pPr algn="l"/>
            <a:r>
              <a:rPr sz="1300">
                <a:solidFill>
                  <a:srgbClr val="E2E2E2"/>
                </a:solidFill>
              </a:rPr>
              <a:t>  •  GUI Thread — Tkinter main loop refreshes the video canvas every 30 ms (after(30, ...)).</a:t>
            </a:r>
          </a:p>
          <a:p>
            <a:pPr algn="l"/>
            <a:r>
              <a:rPr sz="1300">
                <a:solidFill>
                  <a:srgbClr val="E2E2E2"/>
                </a:solidFill>
              </a:rPr>
              <a:t>  •  Thread-safe frame handoff via shared self.current_frame (copy written by bg, read by GUI).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4552" cy="25400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486400" cy="71323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4864" cy="713232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33502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CCA3"/>
                </a:solidFill>
              </a:rPr>
              <a:t>Python 3.x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664208"/>
            <a:ext cx="5230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E2"/>
                </a:solidFill>
              </a:rPr>
              <a:t>Core language — clean, cross-platform, rich ecosystem.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280160"/>
            <a:ext cx="5486400" cy="71323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280160"/>
            <a:ext cx="54864" cy="713232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133502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166"/>
                </a:solidFill>
              </a:rPr>
              <a:t>OpenCV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1664208"/>
            <a:ext cx="5230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E2"/>
                </a:solidFill>
              </a:rPr>
              <a:t>Real-time computer vision: capture, detection, drawing, MOG2.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103120"/>
            <a:ext cx="5486400" cy="71323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103120"/>
            <a:ext cx="54864" cy="713232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15798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CCA3"/>
                </a:solidFill>
              </a:rPr>
              <a:t>Pillow (PIL)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2487168"/>
            <a:ext cx="5230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E2"/>
                </a:solidFill>
              </a:rPr>
              <a:t>Convert OpenCV BGR frames → Tkinter-compatible PhotoImage.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2103120"/>
            <a:ext cx="5486400" cy="71323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2103120"/>
            <a:ext cx="54864" cy="713232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15798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166"/>
                </a:solidFill>
              </a:rPr>
              <a:t>NumPy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2487168"/>
            <a:ext cx="5230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E2"/>
                </a:solidFill>
              </a:rPr>
              <a:t>Array math underlying all image processing operations.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926080"/>
            <a:ext cx="5486400" cy="71323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2926080"/>
            <a:ext cx="54864" cy="713232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298094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CCA3"/>
                </a:solidFill>
              </a:rPr>
              <a:t>Tkinter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3310128"/>
            <a:ext cx="5230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E2"/>
                </a:solidFill>
              </a:rPr>
              <a:t>Built-in Python GUI — no extra install, native look on Windows.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2926080"/>
            <a:ext cx="5486400" cy="71323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2926080"/>
            <a:ext cx="54864" cy="713232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298094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166"/>
                </a:solidFill>
              </a:rPr>
              <a:t>CSV (stdlib)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3310128"/>
            <a:ext cx="52303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2E2"/>
                </a:solidFill>
              </a:rPr>
              <a:t>Lightweight persistent log — zero dependencies, human-readable.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Module 1 — Face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0A0C0"/>
                </a:solidFill>
              </a:rPr>
              <a:t>face_module/face_detector.py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11274552" cy="25400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E2E2E2"/>
                </a:solidFill>
              </a:rPr>
              <a:t>  •  Uses OpenCV's Haar Cascade classifier (haarcascade_frontalface_default.xml).</a:t>
            </a:r>
          </a:p>
          <a:p>
            <a:pPr algn="l"/>
            <a:r>
              <a:rPr sz="1600">
                <a:solidFill>
                  <a:srgbClr val="E2E2E2"/>
                </a:solidFill>
              </a:rPr>
              <a:t>  •  Converts each frame to grayscale, then applies detectMultiScale() for speed.</a:t>
            </a:r>
          </a:p>
          <a:p>
            <a:pPr algn="l"/>
            <a:r>
              <a:rPr sz="1600">
                <a:solidFill>
                  <a:srgbClr val="E2E2E2"/>
                </a:solidFill>
              </a:rPr>
              <a:t>  •  Returns bounding boxes (x, y, w, h) for all detected faces in the frame.</a:t>
            </a:r>
          </a:p>
          <a:p>
            <a:pPr algn="l"/>
            <a:r>
              <a:rPr sz="1600">
                <a:solidFill>
                  <a:srgbClr val="E2E2E2"/>
                </a:solidFill>
              </a:rPr>
              <a:t>  •  Parameters tuned: scaleFactor=1.1, minNeighbors=5, minSize=(40,40).</a:t>
            </a:r>
          </a:p>
          <a:p>
            <a:pPr algn="l"/>
            <a:r>
              <a:rPr sz="1600">
                <a:solidFill>
                  <a:srgbClr val="E2E2E2"/>
                </a:solidFill>
              </a:rPr>
              <a:t>  •  Runs inside the background camera thread — no GUI blocking.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0" y="1234440"/>
            <a:ext cx="4114800" cy="45720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1371600"/>
            <a:ext cx="374903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ECCA3"/>
                </a:solidFill>
              </a:rPr>
              <a:t>faces = detector.detectMultiScale(
    gray,
    scaleFactor = 1.1,
    minNeighbors = 5,
    minSize = (40, 40)
)
for (x,y,w,h) in faces:
    face = gray[y:y+h, x:x+w]
    draw_box(frame, x,y,w,h)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Module 2 — Face Recognition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0A0C0"/>
                </a:solidFill>
              </a:rPr>
              <a:t>face_module/face_recognizer.py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11274552" cy="25400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E2E2E2"/>
                </a:solidFill>
              </a:rPr>
              <a:t>  •  Algorithm: Local Binary Pattern Histogram (LBPH) — fast, runs on CPU, no GPU needed.</a:t>
            </a:r>
          </a:p>
          <a:p>
            <a:pPr algn="l"/>
            <a:r>
              <a:rPr sz="1600">
                <a:solidFill>
                  <a:srgbClr val="E2E2E2"/>
                </a:solidFill>
              </a:rPr>
              <a:t>  •  Each face is divided into local patches; LBP texture histograms are compared.</a:t>
            </a:r>
          </a:p>
          <a:p>
            <a:pPr algn="l"/>
            <a:r>
              <a:rPr sz="1600">
                <a:solidFill>
                  <a:srgbClr val="E2E2E2"/>
                </a:solidFill>
              </a:rPr>
              <a:t>  •  Training: one-shot — a single captured photo per person is enough to register.</a:t>
            </a:r>
          </a:p>
          <a:p>
            <a:pPr algn="l"/>
            <a:r>
              <a:rPr sz="1600">
                <a:solidFill>
                  <a:srgbClr val="E2E2E2"/>
                </a:solidFill>
              </a:rPr>
              <a:t>  •  Registration: saves face image to dataset/known_faces/&lt;name&gt;/ and retrains the model.</a:t>
            </a:r>
          </a:p>
          <a:p>
            <a:pPr algn="l"/>
            <a:r>
              <a:rPr sz="1600">
                <a:solidFill>
                  <a:srgbClr val="E2E2E2"/>
                </a:solidFill>
              </a:rPr>
              <a:t>  •  Prediction: returns (name, confidence %) — threshold set at 70% to flag Unknowns.</a:t>
            </a:r>
          </a:p>
          <a:p>
            <a:pPr algn="l"/>
            <a:r>
              <a:rPr sz="1600">
                <a:solidFill>
                  <a:srgbClr val="E2E2E2"/>
                </a:solidFill>
              </a:rPr>
              <a:t>  •  Model persists to models/face_model.yml — survives app restarts.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03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166"/>
                </a:solidFill>
              </a:rPr>
              <a:t>Why LBPH?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0A0C0"/>
                </a:solidFill>
              </a:rPr>
              <a:t>Lightweight, interpretable, and works well under moderate lighting variation. No neural network training time — suitable for a project demo environment.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Module 3 — Gait Detection &amp;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0A0C0"/>
                </a:solidFill>
              </a:rPr>
              <a:t>gait_module/motion_detector.py  ·  gait_module/gait_analyzer.py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11274552" cy="25400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CCA3"/>
                </a:solidFill>
              </a:rPr>
              <a:t>Motion Detector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E2E2E2"/>
                </a:solidFill>
              </a:rPr>
              <a:t>  •  Background subtraction via MOG2 (Mixture of Gaussians).</a:t>
            </a:r>
          </a:p>
          <a:p>
            <a:pPr algn="l"/>
            <a:r>
              <a:rPr sz="1400">
                <a:solidFill>
                  <a:srgbClr val="E2E2E2"/>
                </a:solidFill>
              </a:rPr>
              <a:t>  •  Isolates moving foreground blobs from static background.</a:t>
            </a:r>
          </a:p>
          <a:p>
            <a:pPr algn="l"/>
            <a:r>
              <a:rPr sz="1400">
                <a:solidFill>
                  <a:srgbClr val="E2E2E2"/>
                </a:solidFill>
              </a:rPr>
              <a:t>  •  Morphological operations (dilate) clean up noise.</a:t>
            </a:r>
          </a:p>
          <a:p>
            <a:pPr algn="l"/>
            <a:r>
              <a:rPr sz="1400">
                <a:solidFill>
                  <a:srgbClr val="E2E2E2"/>
                </a:solidFill>
              </a:rPr>
              <a:t>  •  Contours above a minimum area threshold = persons.</a:t>
            </a:r>
          </a:p>
          <a:p>
            <a:pPr algn="l"/>
            <a:r>
              <a:rPr sz="1400">
                <a:solidFill>
                  <a:srgbClr val="E2E2E2"/>
                </a:solidFill>
              </a:rPr>
              <a:t>  •  Each detected person region → bounding box passed to GaitAnalyzer.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234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166"/>
                </a:solidFill>
              </a:rPr>
              <a:t>Gait Analyzer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60020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E2E2E2"/>
                </a:solidFill>
              </a:rPr>
              <a:t>  •  GaitAnalyzer tracks each person across consecutive frames.</a:t>
            </a:r>
          </a:p>
          <a:p>
            <a:pPr algn="l"/>
            <a:r>
              <a:rPr sz="1400">
                <a:solidFill>
                  <a:srgbClr val="E2E2E2"/>
                </a:solidFill>
              </a:rPr>
              <a:t>  •  Measures stride cadence from vertical centroid oscillation.</a:t>
            </a:r>
          </a:p>
          <a:p>
            <a:pPr algn="l"/>
            <a:r>
              <a:rPr sz="1400">
                <a:solidFill>
                  <a:srgbClr val="E2E2E2"/>
                </a:solidFill>
              </a:rPr>
              <a:t>  •  Assigns a gait score (0–100%) based on movement regularity.</a:t>
            </a:r>
          </a:p>
          <a:p>
            <a:pPr algn="l"/>
            <a:r>
              <a:rPr sz="1400">
                <a:solidFill>
                  <a:srgbClr val="E2E2E2"/>
                </a:solidFill>
              </a:rPr>
              <a:t>  •  Labels: Regular Gait / Irregular Gait / Limping.</a:t>
            </a:r>
          </a:p>
          <a:p>
            <a:pPr algn="l"/>
            <a:r>
              <a:rPr sz="1400">
                <a:solidFill>
                  <a:srgbClr val="E2E2E2"/>
                </a:solidFill>
              </a:rPr>
              <a:t>  •  Orange bounding box + teal label overlaid on live video.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234440"/>
            <a:ext cx="36576" cy="4114800"/>
          </a:xfrm>
          <a:prstGeom prst="rect">
            <a:avLst/>
          </a:prstGeom>
          <a:solidFill>
            <a:srgbClr val="A0A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GUI — Desktop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0A0C0"/>
                </a:solidFill>
              </a:rPr>
              <a:t>app.py  ·  Tkinter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11274552" cy="25400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11155680" cy="548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5331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166"/>
                </a:solidFill>
              </a:rPr>
              <a:t>▶  Start / Stop Camera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353312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2E2"/>
                </a:solidFill>
              </a:rPr>
              <a:t>Launches background thread; releases cv2.VideoCapture on stop.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01952"/>
            <a:ext cx="11155680" cy="548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75104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166"/>
                </a:solidFill>
              </a:rPr>
              <a:t>📸  Register My 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975104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2E2"/>
                </a:solidFill>
              </a:rPr>
              <a:t>Captures current frame → detects face → saves + retrains LBPH.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523744"/>
            <a:ext cx="11155680" cy="548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96896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166"/>
                </a:solidFill>
              </a:rPr>
              <a:t>💾  Screenshot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596896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2E2"/>
                </a:solidFill>
              </a:rPr>
              <a:t>Saves annotated frame as PNG with timestamp.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145536"/>
            <a:ext cx="11155680" cy="548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218688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166"/>
                </a:solidFill>
              </a:rPr>
              <a:t>🔄  Reload Face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218688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2E2"/>
                </a:solidFill>
              </a:rPr>
              <a:t>Hot-reloads model without restarting the application.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767328"/>
            <a:ext cx="11155680" cy="548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4048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166"/>
                </a:solidFill>
              </a:rPr>
              <a:t>🗑  Clear Log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3840480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2E2"/>
                </a:solidFill>
              </a:rPr>
              <a:t>Clears the on-screen recognition event list.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389120"/>
            <a:ext cx="11155680" cy="548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46227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166"/>
                </a:solidFill>
              </a:rPr>
              <a:t>FPS Counter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4462272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2E2"/>
                </a:solidFill>
              </a:rPr>
              <a:t>Live frames-per-second shown in the control panel.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010912"/>
            <a:ext cx="11155680" cy="548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084064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166"/>
                </a:solidFill>
              </a:rPr>
              <a:t>Recognition Log Panel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5084064"/>
            <a:ext cx="7863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2E2"/>
                </a:solidFill>
              </a:rPr>
              <a:t>Scrollable list: time · name · gait label, color-coded by identity.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System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4552" cy="25400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457200" cy="603504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0817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1A2E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1298448"/>
            <a:ext cx="10515600" cy="60350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37160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CCA3"/>
                </a:solidFill>
              </a:rPr>
              <a:t>Launch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37160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2E2"/>
                </a:solidFill>
              </a:rPr>
              <a:t>Run python app.py or double-click run.bat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93392"/>
            <a:ext cx="457200" cy="603504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03120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1A2E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1993392"/>
            <a:ext cx="10515600" cy="60350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2066544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166"/>
                </a:solidFill>
              </a:rPr>
              <a:t>Register Faces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66544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2E2"/>
                </a:solidFill>
              </a:rPr>
              <a:t>Click Register → enter name → face saved to DB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688336"/>
            <a:ext cx="457200" cy="603504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798064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1A2E"/>
                </a:solidFill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2688336"/>
            <a:ext cx="10515600" cy="60350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276148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CCA3"/>
                </a:solidFill>
              </a:rPr>
              <a:t>Start Camera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761488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2E2"/>
                </a:solidFill>
              </a:rPr>
              <a:t>Click ▶ Start → background thread begins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383280"/>
            <a:ext cx="457200" cy="603504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49300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1A2E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5840" y="3383280"/>
            <a:ext cx="10515600" cy="60350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345643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166"/>
                </a:solidFill>
              </a:rPr>
              <a:t>Detection Loop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3456432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2E2"/>
                </a:solidFill>
              </a:rPr>
              <a:t>Haar detects faces → LBPH predicts → MOG2 finds movers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078224"/>
            <a:ext cx="457200" cy="603504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187952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1A2E"/>
                </a:solidFill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4078224"/>
            <a:ext cx="10515600" cy="60350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4151376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CCA3"/>
                </a:solidFill>
              </a:rPr>
              <a:t>Gait Analysis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4151376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2E2"/>
                </a:solidFill>
              </a:rPr>
              <a:t>GaitAnalyzer scores movement → orange box overlaid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773168"/>
            <a:ext cx="457200" cy="603504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88289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1A2E"/>
                </a:solidFill>
              </a:rPr>
              <a:t>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0" y="4773168"/>
            <a:ext cx="10515600" cy="60350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48463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166"/>
                </a:solidFill>
              </a:rPr>
              <a:t>Logging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0" y="484632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2E2"/>
                </a:solidFill>
              </a:rPr>
              <a:t>Events saved to recognition_log.csv with timestamp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468112"/>
            <a:ext cx="457200" cy="60350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577840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1A2E"/>
                </a:solidFill>
              </a:rP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05840" y="5468112"/>
            <a:ext cx="10515600" cy="60350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5541264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6B"/>
                </a:solidFill>
              </a:rPr>
              <a:t>Stop / Screenshot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5541264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2E2"/>
                </a:solidFill>
              </a:rPr>
              <a:t>Operator stops camera or saves snapshot at any time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Results &amp; Observations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4552" cy="25400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4712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4864" cy="1005840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CCA3"/>
                </a:solidFill>
              </a:rPr>
              <a:t>Face Recognition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13716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~85–92%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371600"/>
            <a:ext cx="4754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0A0C0"/>
                </a:solidFill>
              </a:rPr>
              <a:t>Under good lighting with frontal pose; drops for extreme angles.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95728"/>
            <a:ext cx="1124712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395728"/>
            <a:ext cx="54864" cy="100584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487168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166"/>
                </a:solidFill>
              </a:rPr>
              <a:t>Gait Detection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4871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~90%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487168"/>
            <a:ext cx="4754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0A0C0"/>
                </a:solidFill>
              </a:rPr>
              <a:t>Reliable for single walking persons; decreases in crowds.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511296"/>
            <a:ext cx="1124712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511296"/>
            <a:ext cx="54864" cy="100584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602736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6B"/>
                </a:solidFill>
              </a:rPr>
              <a:t>Processing Speed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3602736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15–25 FPS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3602736"/>
            <a:ext cx="4754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0A0C0"/>
                </a:solidFill>
              </a:rPr>
              <a:t>On a mid-range laptop CPU — no GPU required.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626864"/>
            <a:ext cx="11247120" cy="1005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626864"/>
            <a:ext cx="54864" cy="1005840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718304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CCA3"/>
                </a:solidFill>
              </a:rPr>
              <a:t>Registration 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4718304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&lt; 3 sec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4718304"/>
            <a:ext cx="4754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0A0C0"/>
                </a:solidFill>
              </a:rPr>
              <a:t>One-shot capture → model retrain → ready to use.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0A0C0"/>
                </a:solidFill>
              </a:rPr>
              <a:t>* Results measured on a standard laptop (Intel Core i5, 8 GB RAM) using a USB webcam at 720p.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Limitations &amp; Future 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4552" cy="25400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6B"/>
                </a:solidFill>
              </a:rPr>
              <a:t>Current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E2E2E2"/>
                </a:solidFill>
              </a:rPr>
              <a:t>  •  LBPH accuracy degrades under extreme lighting changes or heavy occlusion.</a:t>
            </a:r>
          </a:p>
          <a:p>
            <a:pPr algn="l"/>
            <a:r>
              <a:rPr sz="1400">
                <a:solidFill>
                  <a:srgbClr val="E2E2E2"/>
                </a:solidFill>
              </a:rPr>
              <a:t>  •  Gait analysis is limited to single-person scenarios in current implementation.</a:t>
            </a:r>
          </a:p>
          <a:p>
            <a:pPr algn="l"/>
            <a:r>
              <a:rPr sz="1400">
                <a:solidFill>
                  <a:srgbClr val="E2E2E2"/>
                </a:solidFill>
              </a:rPr>
              <a:t>  •  No persistent person-to-gait linking — face and gait are independent modules.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344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CCA3"/>
                </a:solidFill>
              </a:rPr>
              <a:t>Future Enhancements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002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E2E2E2"/>
                </a:solidFill>
              </a:rPr>
              <a:t>  •  Replace LBPH with a deep CNN (FaceNet / ArcFace) for higher accuracy.</a:t>
            </a:r>
          </a:p>
          <a:p>
            <a:pPr algn="l"/>
            <a:r>
              <a:rPr sz="1400">
                <a:solidFill>
                  <a:srgbClr val="E2E2E2"/>
                </a:solidFill>
              </a:rPr>
              <a:t>  •  Add multi-camera support and cross-camera person re-identification.</a:t>
            </a:r>
          </a:p>
          <a:p>
            <a:pPr algn="l"/>
            <a:r>
              <a:rPr sz="1400">
                <a:solidFill>
                  <a:srgbClr val="E2E2E2"/>
                </a:solidFill>
              </a:rPr>
              <a:t>  •  Integrate gait biometrics to cross-verify face recognition (score fusion).</a:t>
            </a:r>
          </a:p>
          <a:p>
            <a:pPr algn="l"/>
            <a:r>
              <a:rPr sz="1400">
                <a:solidFill>
                  <a:srgbClr val="E2E2E2"/>
                </a:solidFill>
              </a:rPr>
              <a:t>  •  Real-time email / SMS alert when an unrecognized person is detected.</a:t>
            </a:r>
          </a:p>
          <a:p>
            <a:pPr algn="l"/>
            <a:r>
              <a:rPr sz="1400">
                <a:solidFill>
                  <a:srgbClr val="E2E2E2"/>
                </a:solidFill>
              </a:rPr>
              <a:t>  •  Deploy on Raspberry Pi with a CCTV module for embedded surveillance.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1234440"/>
            <a:ext cx="36576" cy="4114800"/>
          </a:xfrm>
          <a:prstGeom prst="rect">
            <a:avLst/>
          </a:prstGeom>
          <a:solidFill>
            <a:srgbClr val="A0A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4552" cy="25400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2E2E2"/>
                </a:solidFill>
              </a:rPr>
              <a:t>This project demonstrates a fully functional, real-time dual-biometric surveillance system built entirely with open-source Python libraries. It successfully combines face recognition and gait analysis to deliver a more robust identification pipeline than either modality alone.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E2E2E2"/>
                </a:solidFill>
              </a:rPr>
              <a:t>  •  Achieved real-time performance (15–25 FPS) on commodity hardware — no GPU needed.</a:t>
            </a:r>
          </a:p>
          <a:p>
            <a:pPr algn="l"/>
            <a:r>
              <a:rPr sz="1600">
                <a:solidFill>
                  <a:srgbClr val="E2E2E2"/>
                </a:solidFill>
              </a:rPr>
              <a:t>  •  One-shot face registration makes enrollment quick and user-friendly.</a:t>
            </a:r>
          </a:p>
          <a:p>
            <a:pPr algn="l"/>
            <a:r>
              <a:rPr sz="1600">
                <a:solidFill>
                  <a:srgbClr val="E2E2E2"/>
                </a:solidFill>
              </a:rPr>
              <a:t>  •  Modular codebase: face_module, gait_module, and utils are independently testable.</a:t>
            </a:r>
          </a:p>
          <a:p>
            <a:pPr algn="l"/>
            <a:r>
              <a:rPr sz="1600">
                <a:solidFill>
                  <a:srgbClr val="E2E2E2"/>
                </a:solidFill>
              </a:rPr>
              <a:t>  •  Provides a clear upgrade path toward deep-learning models (FaceNet, DeepSort).</a:t>
            </a:r>
          </a:p>
          <a:p>
            <a:pPr algn="l"/>
            <a:r>
              <a:rPr sz="1600">
                <a:solidFill>
                  <a:srgbClr val="E2E2E2"/>
                </a:solidFill>
              </a:rPr>
              <a:t>  •  Demonstrates practical application of computer vision in campus/office security.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760720"/>
            <a:ext cx="11064240" cy="777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338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4ECCA3"/>
                </a:solidFill>
              </a:rPr>
              <a:t>"A surveillance system is only as good as its ability to identify — this project bridges that gap with AI."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4552" cy="25400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98448"/>
            <a:ext cx="11064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2E2"/>
                </a:solidFill>
              </a:rPr>
              <a:t>[1] Viola, P. &amp; Jones, M. (2001). Rapid Object Detection using a Boosted Cascade of Simple Features. CVPR.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92808"/>
            <a:ext cx="11064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2E2"/>
                </a:solidFill>
              </a:rPr>
              <a:t>[2] Ahonen, T., Hadid, A., &amp; Pietikäinen, M. (2006). Face Description with LBP. IEEE TPAMI.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87168"/>
            <a:ext cx="11064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2E2"/>
                </a:solidFill>
              </a:rPr>
              <a:t>[3] Zivkovic, Z. (2004). Improved Adaptive Gaussian Mixture Model for Background Subtraction. ICPR.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81528"/>
            <a:ext cx="11064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2E2"/>
                </a:solidFill>
              </a:rPr>
              <a:t>[4] OpenCV Documentation — https://docs.opencv.org/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75888"/>
            <a:ext cx="11064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2E2"/>
                </a:solidFill>
              </a:rPr>
              <a:t>[5] Python Tkinter Documentation — https://docs.python.org/3/library/tkinter.html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70248"/>
            <a:ext cx="11064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2E2"/>
                </a:solidFill>
              </a:rPr>
              <a:t>[6] NumPy Documentation — https://numpy.org/doc/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64608"/>
            <a:ext cx="11064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2E2"/>
                </a:solidFill>
              </a:rPr>
              <a:t>[7] Makris, D. &amp; Ellis, T. (2002). Gait recognition using probabilistic methods. WACV.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